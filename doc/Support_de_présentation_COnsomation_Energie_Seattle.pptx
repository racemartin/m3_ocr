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y="5143500" cx="9144000"/>
  <p:notesSz cx="6858000" cy="9144000"/>
  <p:embeddedFontLst>
    <p:embeddedFont>
      <p:font typeface="Montserrat"/>
      <p:regular r:id="rId43"/>
      <p:bold r:id="rId44"/>
      <p:italic r:id="rId45"/>
      <p:boldItalic r:id="rId46"/>
    </p:embeddedFont>
    <p:embeddedFont>
      <p:font typeface="Lato"/>
      <p:regular r:id="rId47"/>
      <p:bold r:id="rId48"/>
      <p:italic r:id="rId49"/>
      <p:boldItalic r:id="rId5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158">
          <p15:clr>
            <a:srgbClr val="747775"/>
          </p15:clr>
        </p15:guide>
        <p15:guide id="2" orient="horz" pos="1963">
          <p15:clr>
            <a:srgbClr val="747775"/>
          </p15:clr>
        </p15:guide>
        <p15:guide id="3" pos="3484">
          <p15:clr>
            <a:srgbClr val="747775"/>
          </p15:clr>
        </p15:guide>
        <p15:guide id="4" pos="5706">
          <p15:clr>
            <a:srgbClr val="747775"/>
          </p15:clr>
        </p15:guide>
        <p15:guide id="5" orient="horz" pos="57">
          <p15:clr>
            <a:srgbClr val="747775"/>
          </p15:clr>
        </p15:guide>
        <p15:guide id="6" pos="3903">
          <p15:clr>
            <a:srgbClr val="747775"/>
          </p15:clr>
        </p15:guide>
        <p15:guide id="7" orient="horz" pos="2324">
          <p15:clr>
            <a:srgbClr val="747775"/>
          </p15:clr>
        </p15:guide>
        <p15:guide id="8" orient="horz" pos="1247">
          <p15:clr>
            <a:srgbClr val="747775"/>
          </p15:clr>
        </p15:guide>
        <p15:guide id="9" orient="horz" pos="2122">
          <p15:clr>
            <a:srgbClr val="747775"/>
          </p15:clr>
        </p15:guide>
        <p15:guide id="10" pos="2880">
          <p15:clr>
            <a:srgbClr val="747775"/>
          </p15:clr>
        </p15:guide>
        <p15:guide id="11" orient="horz" pos="940">
          <p15:clr>
            <a:srgbClr val="747775"/>
          </p15:clr>
        </p15:guide>
      </p15:sldGuideLst>
    </p:ext>
    <p:ext uri="GoogleSlidesCustomDataVersion2">
      <go:slidesCustomData xmlns:go="http://customooxmlschemas.google.com/" r:id="rId51" roundtripDataSignature="AMtx7mgNFmC19v3AIExPxcFi2DbD/RGL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004687-029E-433C-B6F5-3E9461799E2A}">
  <a:tblStyle styleId="{14004687-029E-433C-B6F5-3E9461799E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58"/>
        <p:guide pos="1963" orient="horz"/>
        <p:guide pos="3484"/>
        <p:guide pos="5706"/>
        <p:guide pos="57" orient="horz"/>
        <p:guide pos="3903"/>
        <p:guide pos="2324" orient="horz"/>
        <p:guide pos="1247" orient="horz"/>
        <p:guide pos="2122" orient="horz"/>
        <p:guide pos="2880"/>
        <p:guide pos="94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font" Target="fonts/Montserrat-bold.fntdata"/><Relationship Id="rId43" Type="http://schemas.openxmlformats.org/officeDocument/2006/relationships/font" Target="fonts/Montserrat-regular.fntdata"/><Relationship Id="rId46" Type="http://schemas.openxmlformats.org/officeDocument/2006/relationships/font" Target="fonts/Montserrat-boldItalic.fntdata"/><Relationship Id="rId45" Type="http://schemas.openxmlformats.org/officeDocument/2006/relationships/font" Target="fonts/Montserrat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Lato-bold.fntdata"/><Relationship Id="rId47" Type="http://schemas.openxmlformats.org/officeDocument/2006/relationships/font" Target="fonts/Lato-regular.fntdata"/><Relationship Id="rId49" Type="http://schemas.openxmlformats.org/officeDocument/2006/relationships/font" Target="fonts/Lato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customschemas.google.com/relationships/presentationmetadata" Target="metadata"/><Relationship Id="rId50" Type="http://schemas.openxmlformats.org/officeDocument/2006/relationships/font" Target="fonts/Lato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b5321c3273_0_9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g3b5321c3273_0_9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b5321c3273_0_9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b5321c3273_0_9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b5321c3273_0_9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b5321c3273_0_9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b5321c3273_0_9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b5321c3273_0_9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b5321c3273_0_9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b5321c3273_0_96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b5321c3273_0_9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g3b5321c3273_0_95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b5321c3273_0_8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b5321c3273_0_8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b5321c3273_0_9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g3b5321c3273_0_97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b5321c3273_0_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g3b5321c3273_0_98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b5321c3273_0_9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g3b5321c3273_0_99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b5321c3273_0_10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g3b5321c3273_0_100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b5321c3273_0_10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g3b5321c3273_0_10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b5321c3273_0_10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g3b5321c3273_0_10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b5321c3273_0_10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g3b5321c3273_0_10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b5321c3273_0_10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g3b5321c3273_0_10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b5321c3273_0_10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g3b5321c3273_0_10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b5321c3273_0_10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g3b5321c3273_0_105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b5321c3273_0_10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g3b5321c3273_0_10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b5321c3273_0_10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g3b5321c3273_0_108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b5321c3273_0_8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g3b5321c3273_0_89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b5321c3273_0_10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g3b5321c3273_0_10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b5321c3273_0_1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g3b5321c3273_0_110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b5321c3273_0_1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g3b5321c3273_0_1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b5321c3273_0_13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g3b5321c3273_0_137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b5321c3273_0_13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g3b5321c3273_0_13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b5321c3273_0_14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g3b5321c3273_0_14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3b5321c3273_0_9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g3b5321c3273_0_90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b5321c3273_0_1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g3b5321c3273_0_11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3b5321c3273_0_1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g3b5321c3273_0_11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g3b5321c3273_0_1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g3b5321c3273_0_11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b5321c3273_0_739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g3b5321c3273_0_739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g3b5321c3273_0_739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g3b5321c3273_0_739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g3b5321c3273_0_739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g3b5321c3273_0_739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g3b5321c3273_0_739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g3b5321c3273_0_739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g3b5321c3273_0_7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g3b5321c3273_0_749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g3b5321c3273_0_749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g3b5321c3273_0_749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g3b5321c3273_0_749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g3b5321c3273_0_749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g3b5321c3273_0_749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g3b5321c3273_0_749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g3b5321c3273_0_749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g3b5321c3273_0_749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g3b5321c3273_0_749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g3b5321c3273_0_749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g3b5321c3273_0_749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g3b5321c3273_0_749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g3b5321c3273_0_749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g3b5321c3273_0_749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g3b5321c3273_0_749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g3b5321c3273_0_749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g3b5321c3273_0_749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g3b5321c3273_0_749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g3b5321c3273_0_749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g3b5321c3273_0_7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g3b5321c3273_0_771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g3b5321c3273_0_771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g3b5321c3273_0_771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g3b5321c3273_0_77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g3b5321c3273_0_77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g3b5321c3273_0_77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g3b5321c3273_0_778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g3b5321c3273_0_778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g3b5321c3273_0_778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g3b5321c3273_0_77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g3b5321c3273_0_778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g3b5321c3273_0_778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g3b5321c3273_0_77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g3b5321c3273_0_78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g3b5321c3273_0_78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g3b5321c3273_0_78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g3b5321c3273_0_78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g3b5321c3273_0_78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g3b5321c3273_0_792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g3b5321c3273_0_792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g3b5321c3273_0_792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g3b5321c3273_0_792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g3b5321c3273_0_792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g3b5321c3273_0_79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g3b5321c3273_0_799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g3b5321c3273_0_799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g3b5321c3273_0_799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g3b5321c3273_0_799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g3b5321c3273_0_799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g3b5321c3273_0_799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g3b5321c3273_0_799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g3b5321c3273_0_799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g3b5321c3273_0_799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g3b5321c3273_0_799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g3b5321c3273_0_799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g3b5321c3273_0_799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g3b5321c3273_0_799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g3b5321c3273_0_799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g3b5321c3273_0_799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g3b5321c3273_0_799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g3b5321c3273_0_799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g3b5321c3273_0_799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g3b5321c3273_0_799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g3b5321c3273_0_799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g3b5321c3273_0_79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g3b5321c3273_0_821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g3b5321c3273_0_821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g3b5321c3273_0_821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g3b5321c3273_0_821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g3b5321c3273_0_821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g3b5321c3273_0_821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g3b5321c3273_0_8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g3b5321c3273_0_829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g3b5321c3273_0_829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g3b5321c3273_0_829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g3b5321c3273_0_829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g3b5321c3273_0_8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g3b5321c3273_0_835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g3b5321c3273_0_835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g3b5321c3273_0_835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g3b5321c3273_0_835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g3b5321c3273_0_835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g3b5321c3273_0_835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g3b5321c3273_0_835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g3b5321c3273_0_835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g3b5321c3273_0_835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g3b5321c3273_0_835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g3b5321c3273_0_835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g3b5321c3273_0_835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g3b5321c3273_0_835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g3b5321c3273_0_835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g3b5321c3273_0_835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g3b5321c3273_0_835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g3b5321c3273_0_835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g3b5321c3273_0_835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g3b5321c3273_0_835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g3b5321c3273_0_835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g3b5321c3273_0_835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g3b5321c3273_0_8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5321c3273_0_85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1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5321c3273_0_860"/>
          <p:cNvSpPr txBox="1"/>
          <p:nvPr>
            <p:ph type="title"/>
          </p:nvPr>
        </p:nvSpPr>
        <p:spPr>
          <a:xfrm>
            <a:off x="1297440" y="393840"/>
            <a:ext cx="7038600" cy="91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g3b5321c3273_0_860"/>
          <p:cNvSpPr txBox="1"/>
          <p:nvPr>
            <p:ph idx="1" type="subTitle"/>
          </p:nvPr>
        </p:nvSpPr>
        <p:spPr>
          <a:xfrm>
            <a:off x="1297440" y="1567440"/>
            <a:ext cx="7038600" cy="29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l">
              <a:spcBef>
                <a:spcPts val="120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120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12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120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120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120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120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1200"/>
              </a:spcBef>
              <a:spcAft>
                <a:spcPts val="120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g3b5321c3273_0_860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Lato"/>
              <a:buNone/>
              <a:defRPr b="0" sz="1000" u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Lato"/>
              <a:buNone/>
              <a:defRPr b="0" sz="1000" u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Lato"/>
              <a:buNone/>
              <a:defRPr b="0" sz="1000" u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Lato"/>
              <a:buNone/>
              <a:defRPr b="0" sz="1000" u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Lato"/>
              <a:buNone/>
              <a:defRPr b="0" sz="1000" u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Lato"/>
              <a:buNone/>
              <a:defRPr b="0" sz="1000" u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Lato"/>
              <a:buNone/>
              <a:defRPr b="0" sz="1000" u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Lato"/>
              <a:buNone/>
              <a:defRPr b="0" sz="1000" u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1000"/>
              <a:buFont typeface="Lato"/>
              <a:buNone/>
              <a:defRPr b="0" sz="1000" u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b5321c3273_0_7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g3b5321c3273_0_7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g3b5321c3273_0_7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0.png"/><Relationship Id="rId5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2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1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29.png"/><Relationship Id="rId5" Type="http://schemas.openxmlformats.org/officeDocument/2006/relationships/image" Target="../media/image2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Relationship Id="rId4" Type="http://schemas.openxmlformats.org/officeDocument/2006/relationships/image" Target="../media/image38.png"/><Relationship Id="rId5" Type="http://schemas.openxmlformats.org/officeDocument/2006/relationships/image" Target="../media/image2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Relationship Id="rId4" Type="http://schemas.openxmlformats.org/officeDocument/2006/relationships/image" Target="../media/image38.png"/><Relationship Id="rId5" Type="http://schemas.openxmlformats.org/officeDocument/2006/relationships/image" Target="../media/image3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Relationship Id="rId4" Type="http://schemas.openxmlformats.org/officeDocument/2006/relationships/image" Target="../media/image34.png"/><Relationship Id="rId5" Type="http://schemas.openxmlformats.org/officeDocument/2006/relationships/image" Target="../media/image2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1.png"/><Relationship Id="rId4" Type="http://schemas.openxmlformats.org/officeDocument/2006/relationships/image" Target="../media/image26.png"/><Relationship Id="rId5" Type="http://schemas.openxmlformats.org/officeDocument/2006/relationships/image" Target="../media/image3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6.png"/><Relationship Id="rId4" Type="http://schemas.openxmlformats.org/officeDocument/2006/relationships/image" Target="../media/image4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Relationship Id="rId4" Type="http://schemas.openxmlformats.org/officeDocument/2006/relationships/image" Target="../media/image4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5.png"/><Relationship Id="rId4" Type="http://schemas.openxmlformats.org/officeDocument/2006/relationships/image" Target="../media/image3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7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8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8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"/>
          <p:cNvSpPr txBox="1"/>
          <p:nvPr>
            <p:ph type="ctrTitle"/>
          </p:nvPr>
        </p:nvSpPr>
        <p:spPr>
          <a:xfrm>
            <a:off x="3338500" y="1607625"/>
            <a:ext cx="5017500" cy="15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Montserrat"/>
              <a:buNone/>
            </a:pPr>
            <a:r>
              <a:rPr b="0" lang="fr" sz="4000" u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Prédisez la consommation d'énergie des bâtiments dans la ville de Seattle.</a:t>
            </a:r>
            <a:br>
              <a:rPr lang="fr" sz="4000"/>
            </a:br>
            <a:endParaRPr b="1" sz="4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"/>
          <p:cNvSpPr txBox="1"/>
          <p:nvPr>
            <p:ph idx="1" type="subTitle"/>
          </p:nvPr>
        </p:nvSpPr>
        <p:spPr>
          <a:xfrm>
            <a:off x="5083950" y="3924925"/>
            <a:ext cx="3470700" cy="62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59090"/>
              <a:buFont typeface="Lato"/>
              <a:buNone/>
            </a:pPr>
            <a:r>
              <a:rPr b="0" i="0" lang="fr" sz="22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Rafael CEREZO MARTIN</a:t>
            </a:r>
            <a:endParaRPr b="0" i="0" sz="2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64000"/>
              <a:buFont typeface="Lato"/>
              <a:buNone/>
            </a:pPr>
            <a:r>
              <a:rPr b="0" i="0" lang="fr" sz="125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Décembre 2025</a:t>
            </a:r>
            <a:endParaRPr b="0" i="0" sz="12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6100" y="980925"/>
            <a:ext cx="1566750" cy="62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"/>
          <p:cNvSpPr txBox="1"/>
          <p:nvPr>
            <p:ph type="title"/>
          </p:nvPr>
        </p:nvSpPr>
        <p:spPr>
          <a:xfrm>
            <a:off x="1272950" y="9000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</a:pPr>
            <a:r>
              <a:rPr lang="fr"/>
              <a:t>Objetifs</a:t>
            </a:r>
            <a:r>
              <a:rPr b="0" lang="fr" sz="2400" u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du projet</a:t>
            </a:r>
            <a:endParaRPr b="0" sz="2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"/>
          <p:cNvSpPr txBox="1"/>
          <p:nvPr>
            <p:ph idx="1" type="body"/>
          </p:nvPr>
        </p:nvSpPr>
        <p:spPr>
          <a:xfrm>
            <a:off x="37400" y="1419750"/>
            <a:ext cx="3006600" cy="30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Côté</a:t>
            </a: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 Administratif (Mairie de Seattle)</a:t>
            </a:r>
            <a:endParaRPr b="1" sz="1000">
              <a:solidFill>
                <a:srgbClr val="00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Aide à la </a:t>
            </a: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Décision</a:t>
            </a: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: 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Cibler les quartiers et types de bâtiments prioritaires pour les rénovations.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Transparence et Reporting :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Fournir des tableaux de bord sur l'empreinte carbone actuelle et projetée.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Char char="●"/>
            </a:pPr>
            <a:r>
              <a:rPr b="1" lang="fr" sz="1000">
                <a:latin typeface="Arial"/>
                <a:ea typeface="Arial"/>
                <a:cs typeface="Arial"/>
                <a:sym typeface="Arial"/>
              </a:rPr>
              <a:t>Optimisation des Ressources : </a:t>
            </a:r>
            <a:r>
              <a:rPr lang="fr" sz="1000">
                <a:latin typeface="Arial"/>
                <a:ea typeface="Arial"/>
                <a:cs typeface="Arial"/>
                <a:sym typeface="Arial"/>
              </a:rPr>
              <a:t>Remplacer les relevés manuels coûteux par une solution prédictive instantanée.</a:t>
            </a:r>
            <a:endParaRPr sz="1000"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Vision Stratégique : 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Assurer la continuité du projet avec une visibilité totale sur les indicateurs de réussite.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"/>
          <p:cNvSpPr txBox="1"/>
          <p:nvPr>
            <p:ph idx="1" type="body"/>
          </p:nvPr>
        </p:nvSpPr>
        <p:spPr>
          <a:xfrm>
            <a:off x="1297025" y="569975"/>
            <a:ext cx="6003000" cy="5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Prédire la consommation d'énergie</a:t>
            </a:r>
            <a:r>
              <a:rPr b="1" lang="fr" sz="4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et les émissions de CO2 des bâtiments non-résidentiels pour </a:t>
            </a:r>
            <a:r>
              <a:rPr b="1" lang="f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optimiser les politiques publiques</a:t>
            </a:r>
            <a:r>
              <a:rPr b="1" lang="fr" sz="4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sans relevés coûteux.</a:t>
            </a:r>
            <a:endParaRPr b="1" sz="4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4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4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"/>
          <p:cNvSpPr txBox="1"/>
          <p:nvPr>
            <p:ph idx="1" type="body"/>
          </p:nvPr>
        </p:nvSpPr>
        <p:spPr>
          <a:xfrm>
            <a:off x="3044000" y="1419750"/>
            <a:ext cx="2954400" cy="32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5000" spcFirstLastPara="1" rIns="91425" wrap="square" tIns="91425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Côté </a:t>
            </a: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Technique (Équipe Data Science)</a:t>
            </a:r>
            <a:endParaRPr b="1" sz="1000">
              <a:solidFill>
                <a:srgbClr val="00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Feature Engineering</a:t>
            </a: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: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Transformer les données brutes en variables structurantes et éliminer les redondances.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Architecture Modèle</a:t>
            </a: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: 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Optimiser les algorithmes supervisés en minimisant l'erreur de prédiction (RMSE).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Char char="●"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r>
              <a:rPr b="1" lang="fr" sz="1000"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fr" sz="1000">
                <a:latin typeface="Arial"/>
                <a:ea typeface="Arial"/>
                <a:cs typeface="Arial"/>
                <a:sym typeface="Arial"/>
              </a:rPr>
              <a:t>Construire un pipeline robuste, interprétable et performant.</a:t>
            </a:r>
            <a:endParaRPr sz="1000"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Contrôle du Surapprentissage : 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Maintenir l'Overfit Gap sous 0.10 pour garantir la fiabilité des résultats.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Analyse de Sensibilité : 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Isoler les facteurs d'influence réels pour valider la pertinence physique du modèle.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"/>
          <p:cNvSpPr txBox="1"/>
          <p:nvPr>
            <p:ph idx="1" type="body"/>
          </p:nvPr>
        </p:nvSpPr>
        <p:spPr>
          <a:xfrm>
            <a:off x="6071875" y="1419750"/>
            <a:ext cx="2810100" cy="32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5000" spcFirstLastPara="1" rIns="91425" wrap="square" tIns="91425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 Côté </a:t>
            </a: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Apprentissage et Didactique</a:t>
            </a:r>
            <a:endParaRPr b="1" sz="1000">
              <a:solidFill>
                <a:srgbClr val="00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Maîtriser le cycle de vie d'un projet de machine learning</a:t>
            </a: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réel, de la donnée “sale” au modèle interprétable.</a:t>
            </a:r>
            <a:endParaRPr b="1"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Transformer une question politique en un problème mathématique</a:t>
            </a:r>
            <a:endParaRPr b="1"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Rigueur Méthodologique</a:t>
            </a: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: 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Diagnostiquer la santé d'un modèle via le compromis biais-variance pour éviter de croire qu'un score élevé est synonyme de succès.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Esprit Critique</a:t>
            </a: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pour ne jamais traiter le modèle comme une boîte noire magique.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b="1" lang="fr" sz="100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Communication Technique</a:t>
            </a:r>
            <a:r>
              <a:rPr b="1"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: </a:t>
            </a:r>
            <a:r>
              <a:rPr lang="fr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Vulgariser des concepts complexes (RMSE, Hyperparamètres) pour convaincre des décideurs non techniques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/>
          <p:cNvSpPr txBox="1"/>
          <p:nvPr>
            <p:ph type="title"/>
          </p:nvPr>
        </p:nvSpPr>
        <p:spPr>
          <a:xfrm>
            <a:off x="1297440" y="393840"/>
            <a:ext cx="7038720" cy="686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</a:pPr>
            <a:r>
              <a:rPr b="0" lang="fr" sz="2400" u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Etapes du Projet</a:t>
            </a:r>
            <a:endParaRPr b="0" sz="2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" name="Google Shape;15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0120" y="1620000"/>
            <a:ext cx="8579880" cy="309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EFEFE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2" name="Google Shape;162;p4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Analyse Exploratoire</a:t>
            </a:r>
            <a:endParaRPr b="1" sz="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163" name="Google Shape;163;p4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4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FFFFFF"/>
                </a:solidFill>
              </a:rPr>
              <a:t>1. Configuration et première inspection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1.1 </a:t>
            </a:r>
            <a:r>
              <a:rPr b="1" lang="fr" sz="800">
                <a:solidFill>
                  <a:srgbClr val="FFFFFF"/>
                </a:solidFill>
              </a:rPr>
              <a:t>Chargement</a:t>
            </a:r>
            <a:r>
              <a:rPr b="1" lang="fr" sz="800">
                <a:solidFill>
                  <a:srgbClr val="FFFFFF"/>
                </a:solidFill>
              </a:rPr>
              <a:t> et premier aperçu des données.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1.2 Analyse des features pertinentes (IDs, target, domaine...)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1.3 Classification des features prédictives.</a:t>
            </a:r>
            <a:endParaRPr b="1" sz="8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2. Analyse de la qualité des données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2.1 Audit des valeurs manquantes et des types de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2.2 Vérification de la cohérence (doublons, erreurs de saisie).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3. Détection et caractérisation des outliers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3.1 Analyse de la colonne "outlier" existante (expertise Seattle).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3.2 Identification statistique des valeurs extrêmes (IQR / Z-score).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4. Analyse univariée - variables numériques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4.1 Statistiques descriptives (moyenne, médiane, écart-type).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4.2 Visualisation des distributions et de l'asymétrie (skewness).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5. Analyse multivariée et corrélations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5.1 Matrice de corrélation (heatmap des variables numériques).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5.2 Pairplot des variables énergétiques (relations directes).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5.3 Analyse de la redondance (identification des corrélations &gt; 0.90).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6. Analyse par segments et contexte (domain considerations)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6.1 Analyse de la cible par type d'usage ou quartier.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6.2 Influence de l'année de construction sur l'efficacité.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7. Synthèse et recommandations pré-engineering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7.1 Choix final des variables et stratégies de transformation.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600">
              <a:solidFill>
                <a:schemeClr val="lt1"/>
              </a:solidFill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Source du fichier.....: 2016_Building_Energy_Benchmarking.csv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Dimensions brutes.....: 3376 lignes | 46 colonnes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Taille en mémoire.....: 3.47 MB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Statut................: ✅ Données chargées dans 'dataset_raw'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66" name="Google Shape;166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0401" y="2297712"/>
            <a:ext cx="4512050" cy="135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45887" y="1166160"/>
            <a:ext cx="5573324" cy="996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75588" y="2248038"/>
            <a:ext cx="765325" cy="76532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"/>
          <p:cNvSpPr txBox="1"/>
          <p:nvPr/>
        </p:nvSpPr>
        <p:spPr>
          <a:xfrm>
            <a:off x="3499175" y="2924175"/>
            <a:ext cx="9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ydata-profiling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70" name="Google Shape;170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11300" y="139300"/>
            <a:ext cx="2008300" cy="941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b5321c3273_0_918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g3b5321c3273_0_918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EFEFE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7" name="Google Shape;177;g3b5321c3273_0_918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Analyse Exploratoire</a:t>
            </a:r>
            <a:endParaRPr b="1" sz="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178" name="Google Shape;178;g3b5321c3273_0_918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g3b5321c3273_0_918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1. Configuration et première inspection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1.1 Chargement et premier aperçu des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1.2 Analyse des features pertinentes (IDs, target, domaine...)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1.3 Classification des features prédictives.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FFFFFF"/>
                </a:solidFill>
              </a:rPr>
              <a:t>2. Analyse de la qualité des données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2.1 Audit des valeurs manquantes et des types de données.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2.2 Vérification de la cohérence (doublons, erreurs de saisie).</a:t>
            </a:r>
            <a:endParaRPr b="1" sz="8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3. Détection et caractérisation des outliers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3.1 Analyse de la colonne "outlier" existante (expertise Seattle).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3.2 Identification statistique des valeurs extrêmes (IQR / Z-score).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4. Analyse univariée - variables numériques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4.1 Statistiques descriptives (moyenne, médiane, écart-type).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4.2 Visualisation des distributions et de l'asymétrie (skewness).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5. Analyse multivariée et corrélations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5.1 Matrice de corrélation (heatmap des variables numériques).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5.2 Pairplot des variables énergétiques (relations directes).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5.3 Analyse de la redondance (identification des corrélations &gt; 0.90).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6. Analyse par segments et contexte (domain considerations)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6.1 Analyse de la cible par type d'usage ou quartier.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6.2 Influence de l'année de construction sur l'efficacité.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7. Synthèse et recommandations pré-engineering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7.1 Choix final des variables et stratégies de transformation.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600">
              <a:solidFill>
                <a:schemeClr val="lt1"/>
              </a:solidFill>
            </a:endParaRPr>
          </a:p>
        </p:txBody>
      </p:sp>
      <p:sp>
        <p:nvSpPr>
          <p:cNvPr id="180" name="Google Shape;180;g3b5321c3273_0_918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--------------------------------------------------------------------------------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Column   | Raison_Principale                    | Dtype   | Impact_Potentiel         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|:---------|:-------------------------------------|:--------|:--------------------------|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City     | Constante (Unique)                   | object  | Perte d'information nulle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Comments | Manquants &gt; 95% &amp; Constante (Unique) | float64 | Perte d'information nulle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DataYear | Constante (Unique)                   | int64   | Perte d'information nulle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Outlier  | Manquants &gt; 95%                      | object  | Perte d'information nulle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State    | Constante (Unique)                   | object  | Perte d'information nulle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1" name="Google Shape;181;g3b5321c3273_0_918"/>
          <p:cNvSpPr txBox="1"/>
          <p:nvPr/>
        </p:nvSpPr>
        <p:spPr>
          <a:xfrm>
            <a:off x="3496250" y="2803025"/>
            <a:ext cx="54726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Column                       |   N_Unique |   Missing_Pct | Dtype   |      Var_Norm |   Dominant_Pct | Is_Constant   | Is_Quasi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|:-----------------------------|-----------:|--------------:|:--------|--------------:|---------------:|:--------------|:-----------|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DataYear                     |          1 |      0        | int64   |   0           |      100       | True 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City                         |          1 |      0        | object  | nan           |      100       | True 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State                        |          1 |      0        | object  | nan           |      100       | True 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Comments                     |          1 |    100        | float64 | nan           |      100       | True 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DefaultData                  |          2 |      0        | bool    |   4.23855     |       94.7242  | False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Outlier                      |          3 |     98.9808   | object  | nan           |       98.9808  | False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ComplianceStatus             |          4 |      0        | object  | nan           |       92.8058  | False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BuildingType                 |          5 |      0        | object  | nan           |       87.53    | False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CouncilDistrictCode          |          7 |      0        | int64   |   0.502913    |       31.7146  | False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NumberofBuildings            |         17 |      0.119904 | float64 |   2.50833     |       93.5851  | False         | False      |</a:t>
            </a:r>
            <a:endParaRPr b="1" sz="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82" name="Google Shape;182;g3b5321c3273_0_9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0600" y="90000"/>
            <a:ext cx="3541900" cy="4826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83" name="Google Shape;183;g3b5321c3273_0_9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7710" y="705624"/>
            <a:ext cx="3527674" cy="12831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g3b5321c3273_0_9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37701" y="2074060"/>
            <a:ext cx="3527675" cy="32797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g3b5321c3273_0_918"/>
          <p:cNvSpPr txBox="1"/>
          <p:nvPr/>
        </p:nvSpPr>
        <p:spPr>
          <a:xfrm>
            <a:off x="3525512" y="2541379"/>
            <a:ext cx="2161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Custom Exploration Funtions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6" name="Google Shape;186;g3b5321c3273_0_918"/>
          <p:cNvSpPr txBox="1"/>
          <p:nvPr/>
        </p:nvSpPr>
        <p:spPr>
          <a:xfrm>
            <a:off x="3426112" y="71704"/>
            <a:ext cx="216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Identification des Colonnes Constantes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7" name="Google Shape;187;g3b5321c3273_0_918"/>
          <p:cNvSpPr txBox="1"/>
          <p:nvPr/>
        </p:nvSpPr>
        <p:spPr>
          <a:xfrm>
            <a:off x="3426112" y="730104"/>
            <a:ext cx="216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Cartographie des Valeurs Manquantes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b5321c3273_0_927"/>
          <p:cNvSpPr/>
          <p:nvPr/>
        </p:nvSpPr>
        <p:spPr>
          <a:xfrm>
            <a:off x="3392600" y="77195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3" name="Google Shape;193;g3b5321c3273_0_927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EFEFE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4" name="Google Shape;194;g3b5321c3273_0_927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Analyse Exploratoire</a:t>
            </a:r>
            <a:endParaRPr b="1" sz="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195" name="Google Shape;195;g3b5321c3273_0_927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3b5321c3273_0_927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1. Configuration et première inspection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1.1 Chargement et premier aperçu des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1.2 Analyse des features pertinentes (IDs, target, domaine...)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1.3 Classification des features prédictives.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2. Analyse de la qualité des données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2.1 Audit des valeurs manquantes et des types de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2.2 Vérification de la cohérence (doublons, erreurs de saisie).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FFFFFF"/>
                </a:solidFill>
              </a:rPr>
              <a:t>3. Détection et caractérisation des outliers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3.1 Analyse de la colonne "outlier" existante (expertise Seattle).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3.2 Identification statistique des valeurs extrêmes (IQR / Z-score).</a:t>
            </a:r>
            <a:endParaRPr b="1" sz="8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4. Analyse univariée - variables numériques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4.1 Statistiques descriptives (moyenne, médiane, écart-type).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4.2 Visualisation des distributions et de l'asymétrie (skewness).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5. Analyse multivariée et corrélations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5.1 Matrice de corrélation (heatmap des variables numériques).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5.2 Pairplot des variables énergétiques (relations directes).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5.3 Analyse de la redondance (identification des corrélations &gt; 0.90).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6. Analyse par segments et contexte (domain considerations)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6.1 Analyse de la cible par type d'usage ou quartier.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6.2 Influence de l'année de construction sur l'efficacité.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7. Synthèse et recommandations pré-engineering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7.1 Choix final des variables et stratégies de transformation.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600">
              <a:solidFill>
                <a:schemeClr val="lt1"/>
              </a:solidFill>
            </a:endParaRPr>
          </a:p>
        </p:txBody>
      </p:sp>
      <p:sp>
        <p:nvSpPr>
          <p:cNvPr id="197" name="Google Shape;197;g3b5321c3273_0_927"/>
          <p:cNvSpPr txBox="1"/>
          <p:nvPr/>
        </p:nvSpPr>
        <p:spPr>
          <a:xfrm>
            <a:off x="3342550" y="3799675"/>
            <a:ext cx="2881800" cy="12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--- 1. SCAN NUMÉRIQUE (Méthode de l'Écart Interquartile - IQR)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for col in numeric_cols: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if is_polars: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# Syntax Polars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q1 = df.select(pl.col(col).quantile(0.25)).item()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q3 = df.select(pl.col(col).quantile(0.75)).item()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iqr = q3 - q1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lower, upper = q1 - 1.5 * iqr, q3 + 1.5 * iqr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98" name="Google Shape;198;g3b5321c3273_0_927"/>
          <p:cNvSpPr txBox="1"/>
          <p:nvPr/>
        </p:nvSpPr>
        <p:spPr>
          <a:xfrm>
            <a:off x="3426100" y="328250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🚩 ANALYSE DES OUTLIERS STATISTIQUES (IQR) : 23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ZipCode............................: 51 bâtiments hors bornes (98075.0, 98155.0)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Longitude..........................: 199 bâtiments hors bornes (-122.38, -122.29)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NumberofBuildings..................: 105 bâtiments hors bornes (1.0, 1.0)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NumberofFloors.....................: 138 bâtiments hors bornes (-3.5, 8.5)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PropertyGFATotal...................: 203 bâtiments hors bornes (-84293.12, 219095.88)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PropertyGFAParking.................: 333 bâtiments hors bornes (0.0, 0.0)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PropertyGFABuilding(s).............: 181 bâtiments hors bornes (-70951.5, 194186.5)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LargestPropertyUseTypeGFA..........: 173 bâtiments hors bornes (-74156.88, 191668.12)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fr" sz="565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SecondLargestPropertyUseTypeGFA....: 120 bâtiments hors bornes (-34446.5, 71677.5)</a:t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 b="1" sz="565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99" name="Google Shape;199;g3b5321c3273_0_927"/>
          <p:cNvSpPr txBox="1"/>
          <p:nvPr/>
        </p:nvSpPr>
        <p:spPr>
          <a:xfrm>
            <a:off x="3426100" y="1305950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🚩 ANOMALIES DE CATÉGORIES (FRÉQUENCES FAIBLES) : 13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BuildingType.......................: 1 catégories trouvées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Aperçu (top 10) : {'Nonresidential WA': 1}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--------------------------------------------------------------------------------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PrimaryPropertyType................: 6 catégories trouvées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Aperçu (top 10) : {'Restaurant': 12, 'Refrigerated Warehouse': 12, 'Hospital': 10, 'Laboratory': 10, 'Low-Rise Multifamily': 3, 'Office': 3}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--------------------------------------------------------------------------------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- PropertyName.......................: 1664 catégories trouvées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Aperçu (top 10) : {'Canal Building': 2, 'South Park': 2, 'Bayview Building': 2, 'Airport Way': 2, 'Fire Station 35 (New)': 1, 'Fire Station 39 (New)': 1, 'Ballard Community Center': 1, 'Ballard Pool': 1, 'Central West HQ / Brown Bear': 1, 'Conservatory Campus': 1}...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0" name="Google Shape;200;g3b5321c3273_0_927"/>
          <p:cNvSpPr txBox="1"/>
          <p:nvPr/>
        </p:nvSpPr>
        <p:spPr>
          <a:xfrm>
            <a:off x="3426097" y="71700"/>
            <a:ext cx="2714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Outliers Numeriques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1" name="Google Shape;201;g3b5321c3273_0_927"/>
          <p:cNvSpPr txBox="1"/>
          <p:nvPr/>
        </p:nvSpPr>
        <p:spPr>
          <a:xfrm>
            <a:off x="3426112" y="1098529"/>
            <a:ext cx="2161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Outliers Catégorieles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02" name="Google Shape;202;g3b5321c3273_0_9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37675" y="2303531"/>
            <a:ext cx="2859600" cy="132671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03" name="Google Shape;203;g3b5321c3273_0_927"/>
          <p:cNvSpPr txBox="1"/>
          <p:nvPr/>
        </p:nvSpPr>
        <p:spPr>
          <a:xfrm>
            <a:off x="5979860" y="3868452"/>
            <a:ext cx="3172200" cy="12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--- 2. SCAN QUALITATIF (Détection des catégories rares) ---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for col in categorical_cols: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if is_polars: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comptage = df.group_by(col).agg(pl.count().alias("n"))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rares = comptage.filter(pl.col("n") &lt; (total_lignes * threshold_freq))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valeurs = rares.select(col).to_series().to_list()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freqs = rares.select("n").to_series().to_list()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else: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counts  = df[col].value_counts()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rares   = counts[counts &lt; (total_lignes * threshold_freq)]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valeurs = rares.index.tolist()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freqs   = rares.values.tolist()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b5321c3273_0_936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9" name="Google Shape;209;g3b5321c3273_0_936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EFEFE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0" name="Google Shape;210;g3b5321c3273_0_936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Analyse Exploratoire</a:t>
            </a:r>
            <a:endParaRPr b="1" sz="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211" name="Google Shape;211;g3b5321c3273_0_936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g3b5321c3273_0_936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1. Configuration et première inspection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1.1 Chargement et premier aperçu des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1.2 Analyse des features pertinentes (IDs, target, domaine...)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1.3 Classification des features prédictives.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2. Analyse de la qualité des données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2.1 Audit des valeurs manquantes et des types de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2.2 Vérification de la cohérence (doublons, erreurs de saisie).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3. Détection et caractérisation des outliers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3.1 Analyse de la colonne "outlier" existante (expertise Seattle).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3.2 Identification statistique des valeurs extrêmes (IQR / Z-score).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/>
              <a:t>4. Analyse univariée - variables numériques</a:t>
            </a:r>
            <a:endParaRPr b="1" sz="800"/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SzPts val="800"/>
              <a:buChar char="●"/>
            </a:pPr>
            <a:r>
              <a:rPr b="1" lang="fr" sz="800"/>
              <a:t>4.1 Statistiques descriptives (moyenne, médiane, écart-type).</a:t>
            </a:r>
            <a:endParaRPr b="1" sz="800"/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SzPts val="800"/>
              <a:buChar char="●"/>
            </a:pPr>
            <a:r>
              <a:rPr b="1" lang="fr" sz="800"/>
              <a:t>4.2 Visualisation des distributions et de l'asymétrie (skewness).</a:t>
            </a:r>
            <a:endParaRPr b="1" sz="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5. Analyse multivariée et corrélations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5.1 Matrice de corrélation (heatmap des variables numériques).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5.2 Pairplot des variables énergétiques (relations directes).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5.3 Analyse de la redondance (identification des corrélations &gt; 0.90).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6. Analyse par segments et contexte (domain considerations)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6.1 Analyse de la cible par type d'usage ou quartier.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6.2 Influence de l'année de construction sur l'efficacité.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7. Synthèse et recommandations pré-engineering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7.1 Choix final des variables et stratégies de transformation.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600">
              <a:solidFill>
                <a:schemeClr val="lt1"/>
              </a:solidFill>
            </a:endParaRPr>
          </a:p>
        </p:txBody>
      </p:sp>
      <p:sp>
        <p:nvSpPr>
          <p:cNvPr id="213" name="Google Shape;213;g3b5321c3273_0_936"/>
          <p:cNvSpPr txBox="1"/>
          <p:nvPr/>
        </p:nvSpPr>
        <p:spPr>
          <a:xfrm>
            <a:off x="3426100" y="3827575"/>
            <a:ext cx="5817300" cy="12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================================================================================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ÉTAPE 3.5 : INTERPRÉTATION AUTOMATIQUE DU DATASET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================================================================================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Variable                        | Asymétrie                 | Type_Queues                         | Outliers_IQR     | Action_Data    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|:--------------------------------|:--------------------------|:------------------------------------|:-----------------|:---------------------|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OSEBuildingID                   | Symétrique (Normale)      | Queues normales                     | Aucun            | Standardize    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DataYear                        | Symétrique (Normale)      | Queues normales                     | Aucun            | Standardize    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ZipCode                         | Asymétrie Positive (1.3)  | Queues lourdes (Outliers probables) | Modérée (3.1%)   | Standardize    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CouncilDistrictCode             | Symétrique (Normale)      | Distribution plate (Uniforme)       | Aucun            | Standardize    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Latitude                        | Symétrique (Normale)      | Queues normales                     | Aucun            | Standardize    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Longitude                       | Symétrique (Normale)      | Queues normales                     | Critique (11.9%) | Log + Robust Scaling |</a:t>
            </a:r>
            <a:endParaRPr b="1" sz="5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14" name="Google Shape;214;g3b5321c3273_0_9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5724" y="2284234"/>
            <a:ext cx="2714701" cy="1081426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15" name="Google Shape;215;g3b5321c3273_0_936"/>
          <p:cNvSpPr txBox="1"/>
          <p:nvPr/>
        </p:nvSpPr>
        <p:spPr>
          <a:xfrm>
            <a:off x="4878850" y="714025"/>
            <a:ext cx="2634300" cy="12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Variables numériques analysées.......: 30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Variables à échelles critiques.......: 14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Variables fortement asymétriques.....: 22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⚠️ ALERTE ÉCHELLES :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DataYear                       : Moyenne = 2.02e+03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CouncilDistrictCode            : Moyenne = 4.36e+00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Latitude                       : Moyenne = 4.76e+01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Longitude                      : Moyenne = -1.22e+02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YearBuilt                      : Moyenne = 1.96e+03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📊 ALERTE ASYMÉTRIE :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ZipCode                        : Skewness = 1.31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NumberofBuildings              : Skewness = 32.48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NumberofFloors                 : Skewness = 6.04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PropertyGFATotal               : Skewness = 19.16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- PropertyGFAParking             : Skewness = 5.22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16" name="Google Shape;216;g3b5321c3273_0_936"/>
          <p:cNvSpPr txBox="1"/>
          <p:nvPr/>
        </p:nvSpPr>
        <p:spPr>
          <a:xfrm>
            <a:off x="4193825" y="333000"/>
            <a:ext cx="4018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ANALYSE STATISTIQUE ET DIAGNOSTIC DES ÉCHELLES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b5321c3273_0_945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22" name="Google Shape;222;g3b5321c3273_0_945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EFEFE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23" name="Google Shape;223;g3b5321c3273_0_945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Analyse Exploratoire</a:t>
            </a:r>
            <a:endParaRPr b="1" sz="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224" name="Google Shape;224;g3b5321c3273_0_945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g3b5321c3273_0_945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1. Configuration et première inspection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1.1 Chargement et premier aperçu des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1.2 Analyse des features pertinentes (IDs, target, domaine...)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1.3 Classification des features prédictives.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2. Analyse de la qualité des données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2.1 Audit des valeurs manquantes et des types de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2.2 Vérification de la cohérence (doublons, erreurs de saisie).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3. Détection et caractérisation des outliers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3.1 Analyse de la colonne "outlier" existante (expertise Seattle).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3.2 Identification statistique des valeurs extrêmes (IQR / Z-score).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4. Analyse univariée - variables numériques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4.1 Statistiques descriptives (moyenne, médiane, écart-type).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4.2 Visualisation des distributions et de l'asymétrie (skewness).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FFFFFF"/>
                </a:solidFill>
              </a:rPr>
              <a:t>5. Analyse multivariée et corrélations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5.1 Matrice de corrélation (heatmap des variables numériques).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5.2 Pairplot des variables énergétiques (relations directes).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5.3 Analyse de la redondance (identification des corrélations &gt; 0.90).</a:t>
            </a:r>
            <a:endParaRPr b="1" sz="8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6. Analyse par segments et contexte (domain considerations)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6.1 Analyse de la cible par type d'usage ou quartier.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6.2 Influence de l'année de construction sur l'efficacité.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7. Synthèse et recommandations pré-engineering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7.1 Choix final des variables et stratégies de transformation.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600">
              <a:solidFill>
                <a:schemeClr val="lt1"/>
              </a:solidFill>
            </a:endParaRPr>
          </a:p>
        </p:txBody>
      </p:sp>
      <p:sp>
        <p:nvSpPr>
          <p:cNvPr id="226" name="Google Shape;226;g3b5321c3273_0_945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🚩 IDENTIFICACIÓN DE REDUNDANCIAS (Correlación &gt; 0.90):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------------------------------------------------------------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⚠️ Surface totale (pieds carrés) (PropertyGFATotal)  &lt;---&gt;  Surface bâtie (PropertyGFABuilding(s))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Indice de corrélation : 0.9905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------------------------------------------------------------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⚠️ Surface totale (pieds carrés) (PropertyGFATotal)  &lt;---&gt;  Surface de l'utilisation principale (LargestPropertyUseTypeGFA)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Indice de corrélation : 0.9776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27" name="Google Shape;227;g3b5321c3273_0_945"/>
          <p:cNvSpPr txBox="1"/>
          <p:nvPr/>
        </p:nvSpPr>
        <p:spPr>
          <a:xfrm>
            <a:off x="3426100" y="71700"/>
            <a:ext cx="31116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Matrice de Corrélation (Heatmap des variables numériques pertinentes)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Sélection automatique des variables corrélées à plus de 40% (0.4) avec la cible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Cela nous permet de voir ce qui influence réellement la </a:t>
            </a: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consommation</a:t>
            </a: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8" name="Google Shape;228;g3b5321c3273_0_945"/>
          <p:cNvSpPr txBox="1"/>
          <p:nvPr/>
        </p:nvSpPr>
        <p:spPr>
          <a:xfrm>
            <a:off x="3426100" y="1160150"/>
            <a:ext cx="31518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Pairplot des variables énergétiques (relations directes)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Diagonale (KDE)</a:t>
            </a: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la distribution (concentration) de chaque fluide énergétique ;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y voit que la plupart des bâtiments ont une consommation faible, avec quelques valeurs extrêmes (pics).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Nuages de points (Scatter)</a:t>
            </a: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: Relations entre variables.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Par exemple, une ligne droite indique une corrélation parfaite entre deux intensités énergétiques.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29" name="Google Shape;229;g3b5321c3273_0_9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71400" y="1980000"/>
            <a:ext cx="1766700" cy="1701024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30" name="Google Shape;230;g3b5321c3273_0_9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0750" y="90000"/>
            <a:ext cx="1897350" cy="18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3b5321c3273_0_945"/>
          <p:cNvSpPr txBox="1"/>
          <p:nvPr/>
        </p:nvSpPr>
        <p:spPr>
          <a:xfrm>
            <a:off x="3426100" y="3139150"/>
            <a:ext cx="3111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Analyse de la redondance 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Identification des corrélations &gt; 0.90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b5321c3273_0_963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37" name="Google Shape;237;g3b5321c3273_0_963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EFEFE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38" name="Google Shape;238;g3b5321c3273_0_963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Analyse Exploratoire</a:t>
            </a:r>
            <a:endParaRPr b="1" sz="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239" name="Google Shape;239;g3b5321c3273_0_963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g3b5321c3273_0_963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1. Configuration et première inspection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1.1 Chargement et premier aperçu des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1.2 Analyse des features pertinentes (IDs, target, domaine...)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1.3 Classification des features prédictives.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2. Analyse de la qualité des données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2.1 Audit des valeurs manquantes et des types de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2.2 Vérification de la cohérence (doublons, erreurs de saisie).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3. Détection et caractérisation des outliers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3.1 Analyse de la colonne "outlier" existante (expertise Seattle).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3.2 Identification statistique des valeurs extrêmes (IQR / Z-score).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4. Analyse univariée - variables numériques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4.1 Statistiques descriptives (moyenne, médiane, écart-type).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4.2 Visualisation des distributions et de l'asymétrie (skewness).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5. Analyse multivariée et corrélations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5.1 Matrice de corrélation (heatmap des variables numériques).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5.2 Pairplot des variables énergétiques (relations directes).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5.3 Analyse de la redondance (identification des corrélations &gt; 0.90).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FFFFFF"/>
                </a:solidFill>
              </a:rPr>
              <a:t>6. Analyse par segments et contexte (domain considerations)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6.1 Analyse de la cible par type d'usage ou quartier.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6.2 Influence de l'année de construction sur l'efficacité.</a:t>
            </a:r>
            <a:endParaRPr b="1" sz="8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7. Synthèse et recommandations pré-engineering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7.1 Choix final des variables et stratégies de transformation.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600">
              <a:solidFill>
                <a:schemeClr val="lt1"/>
              </a:solidFill>
            </a:endParaRPr>
          </a:p>
        </p:txBody>
      </p:sp>
      <p:pic>
        <p:nvPicPr>
          <p:cNvPr id="241" name="Google Shape;241;g3b5321c3273_0_9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62650" y="1034225"/>
            <a:ext cx="5609849" cy="1511972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g3b5321c3273_0_963"/>
          <p:cNvSpPr txBox="1"/>
          <p:nvPr/>
        </p:nvSpPr>
        <p:spPr>
          <a:xfrm>
            <a:off x="3462650" y="771050"/>
            <a:ext cx="1773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TYPE D'USAGE 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3" name="Google Shape;243;g3b5321c3273_0_963"/>
          <p:cNvSpPr txBox="1"/>
          <p:nvPr/>
        </p:nvSpPr>
        <p:spPr>
          <a:xfrm>
            <a:off x="5272500" y="771050"/>
            <a:ext cx="1773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QUARTIER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4" name="Google Shape;244;g3b5321c3273_0_963"/>
          <p:cNvSpPr txBox="1"/>
          <p:nvPr/>
        </p:nvSpPr>
        <p:spPr>
          <a:xfrm>
            <a:off x="7259675" y="771050"/>
            <a:ext cx="1773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ÂGE CONSTRUCTION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5" name="Google Shape;245;g3b5321c3273_0_963"/>
          <p:cNvSpPr txBox="1"/>
          <p:nvPr/>
        </p:nvSpPr>
        <p:spPr>
          <a:xfrm>
            <a:off x="3426100" y="2493200"/>
            <a:ext cx="2104500" cy="7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Segment d'Usage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Identifie les "gros consommateurs" par usage (ex: Hôpitaux/Hôtels) et révèle de nombreux bâtiments atypiques (outliers) avec des pics de consommation extrêmes.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6" name="Google Shape;246;g3b5321c3273_0_963"/>
          <p:cNvSpPr txBox="1"/>
          <p:nvPr/>
        </p:nvSpPr>
        <p:spPr>
          <a:xfrm>
            <a:off x="5363138" y="2486400"/>
            <a:ext cx="18165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Géographie &amp; Quartier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Classe les quartiers par intensité énergétique ; le secteur Downtown domine nettement, confirmant une concentration géographique du besoin énergétique.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7" name="Google Shape;247;g3b5321c3273_0_963"/>
          <p:cNvSpPr txBox="1"/>
          <p:nvPr/>
        </p:nvSpPr>
        <p:spPr>
          <a:xfrm>
            <a:off x="7181675" y="2493200"/>
            <a:ext cx="18513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Âge du Bâtiment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Bâtiments post-2000 : -30% de consommation.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Avant 1980 : Performance critique avec un Score Energy Star &lt; 50.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8" name="Google Shape;248;g3b5321c3273_0_963"/>
          <p:cNvSpPr txBox="1"/>
          <p:nvPr/>
        </p:nvSpPr>
        <p:spPr>
          <a:xfrm>
            <a:off x="4471450" y="333000"/>
            <a:ext cx="3449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Analyse par segments et contexte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9" name="Google Shape;249;g3b5321c3273_0_963"/>
          <p:cNvSpPr txBox="1"/>
          <p:nvPr/>
        </p:nvSpPr>
        <p:spPr>
          <a:xfrm>
            <a:off x="3342700" y="3941400"/>
            <a:ext cx="2187900" cy="12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6.1 Consommation par Type d'Usage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sns.boxplot(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data=building_consumption, 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x='PrimaryPropertyType', 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y='SiteEnergyUse(kBtu)',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ax=axes[0]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50" name="Google Shape;250;g3b5321c3273_0_963"/>
          <p:cNvSpPr txBox="1"/>
          <p:nvPr/>
        </p:nvSpPr>
        <p:spPr>
          <a:xfrm>
            <a:off x="4818025" y="3941400"/>
            <a:ext cx="2593800" cy="12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6.2 Consommation moyenne par Quartier (Top 10)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top_neighborhoods = (building_consumption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.groupby('Neighborhood')['SiteEnergyUse(kBtu)']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.mean()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.sort_values(ascending=False)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.head(10))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top_neighborhoods.plot(kind='barh', ax=axes[1], color='coral')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51" name="Google Shape;251;g3b5321c3273_0_963"/>
          <p:cNvSpPr txBox="1"/>
          <p:nvPr/>
        </p:nvSpPr>
        <p:spPr>
          <a:xfrm>
            <a:off x="7259675" y="3931575"/>
            <a:ext cx="21045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6.3 Année de Construction vs Efficacité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axes[2].scatter(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building_consumption['YearBuilt'], 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building_consumption['ENERGYSTARScore'],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alpha=0.5, s=20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b5321c3273_0_954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57" name="Google Shape;257;g3b5321c3273_0_954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EFEFE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58" name="Google Shape;258;g3b5321c3273_0_954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Analyse Exploratoire</a:t>
            </a:r>
            <a:endParaRPr b="1" sz="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259" name="Google Shape;259;g3b5321c3273_0_954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g3b5321c3273_0_954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1. Configuration et première inspection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1.1 Chargement et premier aperçu des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1.2 Analyse des features pertinentes (IDs, target, domaine...)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1.3 Classification des features prédictives.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2. Analyse de la qualité des données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2.1 Audit des valeurs manquantes et des types de données.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2.2 Vérification de la cohérence (doublons, erreurs de saisie).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3. Détection et caractérisation des outliers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3.1 Analyse de la colonne "outlier" existante (expertise Seattle).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3.2 Identification statistique des valeurs extrêmes (IQR / Z-score).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4. Analyse univariée - variables numériques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4.1 Statistiques descriptives (moyenne, médiane, écart-type).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4.2 Visualisation des distributions et de l'asymétrie (skewness).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5. Analyse multivariée et corrélations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5.1 Matrice de corrélation (heatmap des variables numériques).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5.2 Pairplot des variables énergétiques (relations directes).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5.3 Analyse de la redondance (identification des corrélations &gt; 0.90).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</a:rPr>
              <a:t>6. Analyse par segments et contexte (domain considerations)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6.1 Analyse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 de la cible par type d'usage ou quartier.</a:t>
            </a:r>
            <a:endParaRPr b="1" sz="800">
              <a:solidFill>
                <a:srgbClr val="999999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Char char="●"/>
            </a:pPr>
            <a:r>
              <a:rPr b="1" lang="fr" sz="800">
                <a:solidFill>
                  <a:srgbClr val="999999"/>
                </a:solidFill>
              </a:rPr>
              <a:t>6.2 Influence de l'année de construction sur l'efficacité.</a:t>
            </a:r>
            <a:endParaRPr b="1" sz="8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FFFFFF"/>
                </a:solidFill>
              </a:rPr>
              <a:t>7. Synthèse et recommandations pré-engineering</a:t>
            </a:r>
            <a:endParaRPr b="1" sz="800">
              <a:solidFill>
                <a:srgbClr val="FFFFFF"/>
              </a:solidFill>
            </a:endParaRPr>
          </a:p>
          <a:p>
            <a:pPr indent="-2794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Char char="●"/>
            </a:pPr>
            <a:r>
              <a:rPr b="1" lang="fr" sz="800">
                <a:solidFill>
                  <a:srgbClr val="FFFFFF"/>
                </a:solidFill>
              </a:rPr>
              <a:t>7.1 Choix final des variables et stratégies de transformation.</a:t>
            </a:r>
            <a:endParaRPr b="1" sz="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600">
              <a:solidFill>
                <a:schemeClr val="lt1"/>
              </a:solidFill>
            </a:endParaRPr>
          </a:p>
        </p:txBody>
      </p:sp>
      <p:sp>
        <p:nvSpPr>
          <p:cNvPr id="261" name="Google Shape;261;g3b5321c3273_0_954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cols_a_supprimer  = ['DataYear', 'City', 'State', 'Comments' ....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cols_a_log        = ['PropertyGFATotal', 'PropertyGFABuilding(s)' ....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cols_a_ohe        = ['PrimaryPropertyType', 'BuildingType', ....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cols_a_target     = ['Neighborhood', .... 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62" name="Google Shape;262;g3b5321c3273_0_954"/>
          <p:cNvSpPr txBox="1"/>
          <p:nvPr/>
        </p:nvSpPr>
        <p:spPr>
          <a:xfrm>
            <a:off x="3586600" y="356100"/>
            <a:ext cx="5415900" cy="27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Synthèse et recommandations pré-engineering</a:t>
            </a:r>
            <a:endParaRPr b="1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Cette </a:t>
            </a: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étape</a:t>
            </a: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permet </a:t>
            </a: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d'identifier</a:t>
            </a: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la cible et l'ensemble d'actions à </a:t>
            </a: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réaliser</a:t>
            </a: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sur les features.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finalise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avec un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ensemble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de listes avec les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différents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features ..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Char char="●"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eliminer ( constants, redondantes (doublons mathématiques), 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Char char="●"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reduire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l'asymétrie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et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outliers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 Transformation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logarithmique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, Limiter les extrêmes IQR ou Percentile)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Char char="●"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numeriser les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catégorielles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 A travers de One-Hot Encoding ou Target encoding) 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Char char="●"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 comprendre le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problème du métier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et pouvoir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créer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des nouvelles Features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63" name="Google Shape;263;g3b5321c3273_0_9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7925" y="3008947"/>
            <a:ext cx="653165" cy="653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g3b5321c3273_0_9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2127" y="3008947"/>
            <a:ext cx="653165" cy="653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g3b5321c3273_0_9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96328" y="2984088"/>
            <a:ext cx="653165" cy="653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g3b5321c3273_0_9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40530" y="2984088"/>
            <a:ext cx="653165" cy="6531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b5321c3273_0_882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272" name="Google Shape;272;g3b5321c3273_0_882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g3b5321c3273_0_882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FFFFFF"/>
                </a:solidFill>
              </a:rPr>
              <a:t>P. </a:t>
            </a:r>
            <a:r>
              <a:rPr b="1" lang="fr" sz="1000">
                <a:solidFill>
                  <a:srgbClr val="FFFFFF"/>
                </a:solidFill>
              </a:rPr>
              <a:t>Prétraitement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P.1 Chargement du dataset. (shape avant et </a:t>
            </a:r>
            <a:r>
              <a:rPr b="1" lang="fr" sz="1000">
                <a:solidFill>
                  <a:srgbClr val="FFFFFF"/>
                </a:solidFill>
              </a:rPr>
              <a:t>après</a:t>
            </a:r>
            <a:r>
              <a:rPr b="1" lang="fr" sz="1000">
                <a:solidFill>
                  <a:srgbClr val="FFFFFF"/>
                </a:solidFill>
              </a:rPr>
              <a:t>)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</a:t>
            </a:r>
            <a:r>
              <a:rPr b="1" lang="fr" sz="1000">
                <a:solidFill>
                  <a:srgbClr val="999999"/>
                </a:solidFill>
              </a:rPr>
              <a:t>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</a:t>
            </a:r>
            <a:r>
              <a:rPr b="1" lang="fr" sz="1000">
                <a:solidFill>
                  <a:srgbClr val="999999"/>
                </a:solidFill>
              </a:rPr>
              <a:t>corrélées</a:t>
            </a:r>
            <a:r>
              <a:rPr b="1" lang="fr" sz="1000">
                <a:solidFill>
                  <a:srgbClr val="999999"/>
                </a:solidFill>
              </a:rPr>
              <a:t>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274" name="Google Shape;274;g3b5321c3273_0_882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5" name="Google Shape;275;g3b5321c3273_0_882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76" name="Google Shape;276;g3b5321c3273_0_882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CHARGEMENT DU DATASET RÉUSSI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Source du fichier.....: 2016_Building_Energy_Benchmarking.csv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Dimensions brutes.....: 3376 lignes | 46 colonnes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Taille en mémoire.....: 3.47 MB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Statut................: ✅ Données chargées dans 'dataset_raw'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77" name="Google Shape;277;g3b5321c3273_0_8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0590" y="1705539"/>
            <a:ext cx="5573324" cy="996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g3b5321c3273_0_8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4612" y="154775"/>
            <a:ext cx="2082771" cy="126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g3b5321c3273_0_88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07925" y="3008947"/>
            <a:ext cx="653165" cy="653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g3b5321c3273_0_88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52127" y="3008947"/>
            <a:ext cx="653165" cy="653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g3b5321c3273_0_88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96328" y="2984088"/>
            <a:ext cx="653165" cy="653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g3b5321c3273_0_88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40530" y="2984088"/>
            <a:ext cx="653165" cy="65316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3b5321c3273_0_882"/>
          <p:cNvSpPr txBox="1"/>
          <p:nvPr/>
        </p:nvSpPr>
        <p:spPr>
          <a:xfrm>
            <a:off x="3416450" y="2662863"/>
            <a:ext cx="5632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1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Liste de recommandations de </a:t>
            </a:r>
            <a:r>
              <a:rPr b="1" lang="fr" sz="11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l'étape</a:t>
            </a:r>
            <a:r>
              <a:rPr b="1" lang="fr" sz="11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lang="fr" sz="11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précédente</a:t>
            </a:r>
            <a:r>
              <a:rPr b="1" lang="fr" sz="11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sz="1100"/>
          </a:p>
        </p:txBody>
      </p:sp>
      <p:sp>
        <p:nvSpPr>
          <p:cNvPr id="284" name="Google Shape;284;g3b5321c3273_0_882"/>
          <p:cNvSpPr txBox="1"/>
          <p:nvPr/>
        </p:nvSpPr>
        <p:spPr>
          <a:xfrm>
            <a:off x="3488000" y="1419738"/>
            <a:ext cx="5632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1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Dataset en brute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b5321c3273_0_975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290" name="Google Shape;290;g3b5321c3273_0_975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g3b5321c3273_0_975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P.2 Filtrage du périmètre métier : exclusion du résidentiel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292" name="Google Shape;292;g3b5321c3273_0_975"/>
          <p:cNvSpPr/>
          <p:nvPr/>
        </p:nvSpPr>
        <p:spPr>
          <a:xfrm>
            <a:off x="3392600" y="71021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3" name="Google Shape;293;g3b5321c3273_0_975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4" name="Google Shape;294;g3b5321c3273_0_975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FILTRAGE DU PÉRIMÈTRE D'ÉTUDE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🏢 Bâtiments initiaux :  3376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🚫 Bâtiments retirés  :  1708 (Type: Multifamily)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✅ Bâtiments restants :  1668 (Périmètre Non-Résidentiel uniquement)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95" name="Google Shape;295;g3b5321c3273_0_9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38725" y="102300"/>
            <a:ext cx="3119975" cy="957875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g3b5321c3273_0_975"/>
          <p:cNvSpPr txBox="1"/>
          <p:nvPr/>
        </p:nvSpPr>
        <p:spPr>
          <a:xfrm>
            <a:off x="3426100" y="102300"/>
            <a:ext cx="2412600" cy="10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97" name="Google Shape;297;g3b5321c3273_0_9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3500" y="1096763"/>
            <a:ext cx="4333301" cy="257262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98" name="Google Shape;298;g3b5321c3273_0_975"/>
          <p:cNvSpPr txBox="1"/>
          <p:nvPr/>
        </p:nvSpPr>
        <p:spPr>
          <a:xfrm>
            <a:off x="3426100" y="117450"/>
            <a:ext cx="21045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BuildingType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Pour prédire les émissions des bâtiments "non-résidentiels",  On vérifie s'il reste des habitations multifamiliales (Multifamily) qui pourraient fausser les résultats.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b5321c3273_0_984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04" name="Google Shape;304;g3b5321c3273_0_984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g3b5321c3273_0_984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P.3 Choisir la cible du modèle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06" name="Google Shape;306;g3b5321c3273_0_984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07" name="Google Shape;307;g3b5321c3273_0_984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08" name="Google Shape;308;g3b5321c3273_0_984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PARAMÈTRES DE CONFIGURATION INITIALISÉS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Variable cible (Target)...: SiteEnergyUse(kBtu)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Graine aléatoire (SEED)...: 42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Status....................: ✅ Configuration prête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09" name="Google Shape;309;g3b5321c3273_0_9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8700" y="188315"/>
            <a:ext cx="3963626" cy="153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g3b5321c3273_0_98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08875" y="1799425"/>
            <a:ext cx="3963624" cy="1497787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b5321c3273_0_984"/>
          <p:cNvSpPr txBox="1"/>
          <p:nvPr/>
        </p:nvSpPr>
        <p:spPr>
          <a:xfrm>
            <a:off x="3426100" y="117450"/>
            <a:ext cx="16425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SiteEnergyUse(kBtu)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Consommation totale d'énergie du site.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2" name="Google Shape;312;g3b5321c3273_0_984"/>
          <p:cNvSpPr txBox="1"/>
          <p:nvPr/>
        </p:nvSpPr>
        <p:spPr>
          <a:xfrm>
            <a:off x="3392588" y="1709375"/>
            <a:ext cx="16425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TotalGHGEmissions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Émissions totales de gaz à effet de serre (GES)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b5321c3273_0_993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18" name="Google Shape;318;g3b5321c3273_0_993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g3b5321c3273_0_993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P.4 Normalisation initiale (cruciale pour la cohérence)</a:t>
            </a:r>
            <a:endParaRPr b="1" sz="10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20" name="Google Shape;320;g3b5321c3273_0_993"/>
          <p:cNvSpPr/>
          <p:nvPr/>
        </p:nvSpPr>
        <p:spPr>
          <a:xfrm>
            <a:off x="3392600" y="66473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21" name="Google Shape;321;g3b5321c3273_0_993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22" name="Google Shape;322;g3b5321c3273_0_993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On identifie les colonnes textuelles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cols_texte = df.select_dtypes(include=['object']).columns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for col in cols_texte: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	# 1. Convertir en string (pour éviter les erreurs sur les types mixtes)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	# 2. Tout en majuscules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	# 3. Supprimer les espaces au début et à la fin (strip)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	df[col] = df[col].astype(str).str.upper().str.strip()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	# 4. (Optionnel) Reconvertir les chaînes 'NAN' ou 'NONE' en vrais NaN de Numpy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	df[col] = df[col].replace(['NAN', 'NONE', 'NULL', ''], np.nan)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23" name="Google Shape;323;g3b5321c3273_0_9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4273" y="210900"/>
            <a:ext cx="3567075" cy="128930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g3b5321c3273_0_993"/>
          <p:cNvSpPr txBox="1"/>
          <p:nvPr/>
        </p:nvSpPr>
        <p:spPr>
          <a:xfrm>
            <a:off x="4426550" y="1474050"/>
            <a:ext cx="3461100" cy="22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Neighborhood           |   Count |   Percentage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|:-----------------------|--------:|-------------:|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DOWNTOWN               |     573 |        16.97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EAST                   |     453 |        13.42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MAGNOLIA / QUEEN ANNE  |     423 |        12.53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GREATER DUWAMISH       |     375 |        11.11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NORTHEAST              |     280 |         8.29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LAKE UNION             |     251 |         7.43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FF"/>
                </a:solidFill>
                <a:latin typeface="Courier New"/>
                <a:ea typeface="Courier New"/>
                <a:cs typeface="Courier New"/>
                <a:sym typeface="Courier New"/>
              </a:rPr>
              <a:t>| NORTHWEST              |     210 |         6.22 |</a:t>
            </a:r>
            <a:endParaRPr b="1" sz="900">
              <a:solidFill>
                <a:srgbClr val="FF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SOUTHWEST              |     166 |         4.92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| NORTH                  |     145 |         4.3  |</a:t>
            </a:r>
            <a:endParaRPr b="1" sz="9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38761D"/>
                </a:solidFill>
                <a:latin typeface="Courier New"/>
                <a:ea typeface="Courier New"/>
                <a:cs typeface="Courier New"/>
                <a:sym typeface="Courier New"/>
              </a:rPr>
              <a:t>| BALLARD                |     126 |         3.73 |</a:t>
            </a:r>
            <a:endParaRPr b="1" sz="900">
              <a:solidFill>
                <a:srgbClr val="38761D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1155CC"/>
                </a:solidFill>
                <a:latin typeface="Courier New"/>
                <a:ea typeface="Courier New"/>
                <a:cs typeface="Courier New"/>
                <a:sym typeface="Courier New"/>
              </a:rPr>
              <a:t>| CENTRAL                |     107 |         3.17 |</a:t>
            </a:r>
            <a:endParaRPr b="1" sz="900">
              <a:solidFill>
                <a:srgbClr val="1155C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SOUTHEAST              |      95 |         2.81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DELRIDGE               |      80 |         2.37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| North                  |      42 |         1.24 |</a:t>
            </a:r>
            <a:endParaRPr b="1" sz="9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1155CC"/>
                </a:solidFill>
                <a:latin typeface="Courier New"/>
                <a:ea typeface="Courier New"/>
                <a:cs typeface="Courier New"/>
                <a:sym typeface="Courier New"/>
              </a:rPr>
              <a:t>| Central                |      27 |         0.8  |</a:t>
            </a:r>
            <a:endParaRPr b="1" sz="900">
              <a:solidFill>
                <a:srgbClr val="1155C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FF"/>
                </a:solidFill>
                <a:latin typeface="Courier New"/>
                <a:ea typeface="Courier New"/>
                <a:cs typeface="Courier New"/>
                <a:sym typeface="Courier New"/>
              </a:rPr>
              <a:t>| Northwest              |      11 |         0.33 |</a:t>
            </a:r>
            <a:endParaRPr b="1" sz="900">
              <a:solidFill>
                <a:srgbClr val="FF0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38761D"/>
                </a:solidFill>
                <a:latin typeface="Courier New"/>
                <a:ea typeface="Courier New"/>
                <a:cs typeface="Courier New"/>
                <a:sym typeface="Courier New"/>
              </a:rPr>
              <a:t>| Ballard                |       7 |         0.21 |</a:t>
            </a:r>
            <a:endParaRPr b="1" sz="900">
              <a:solidFill>
                <a:srgbClr val="38761D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Delridge               |       4 |         0.12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DELRIDGE NEIGHBORHOODS |       1 |         0.03 |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5" name="Google Shape;325;g3b5321c3273_0_993"/>
          <p:cNvSpPr txBox="1"/>
          <p:nvPr/>
        </p:nvSpPr>
        <p:spPr>
          <a:xfrm>
            <a:off x="4347000" y="3391850"/>
            <a:ext cx="3348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rgbClr val="999999"/>
                </a:solidFill>
                <a:latin typeface="Montserrat"/>
                <a:ea typeface="Montserrat"/>
                <a:cs typeface="Montserrat"/>
                <a:sym typeface="Montserrat"/>
              </a:rPr>
              <a:t>DELRIDGE NEIGHBORHOODS =?= DELRIDGE vs Delridge</a:t>
            </a:r>
            <a:endParaRPr b="1" sz="80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b5321c3273_0_1002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31" name="Google Shape;331;g3b5321c3273_0_1002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g3b5321c3273_0_1002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FFFFFF"/>
                </a:solidFill>
              </a:rPr>
              <a:t>1. Nettoyage initial et élimination</a:t>
            </a:r>
            <a:endParaRPr b="1" sz="10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33" name="Google Shape;333;g3b5321c3273_0_1002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34" name="Google Shape;334;g3b5321c3273_0_1002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35" name="Google Shape;335;g3b5321c3273_0_1002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RAPPORT DE SYNTHÈSE : ÉLAGAGE DES DONNÉES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Column                     Raison_Principale    Dtype           Impact_Potentiel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4      City                    Constante (Unique)   object  Perte d'information nulle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Comments  Manquants &gt; 95% &amp; Constante (Unique)  float64  Perte d'information nulle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  DataYear                    Constante (Unique)    int64  Perte d'information nulle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3   Outlier                       Manquants &gt; 95%   object  Perte d'information nulle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     State                    Constante (Unique)   object  Perte d'information nulle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36" name="Google Shape;336;g3b5321c3273_0_10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5602" y="139043"/>
            <a:ext cx="2100446" cy="114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337" name="Google Shape;337;g3b5321c3273_0_100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38417" y="111775"/>
            <a:ext cx="1864032" cy="1585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g3b5321c3273_0_1002"/>
          <p:cNvSpPr txBox="1"/>
          <p:nvPr/>
        </p:nvSpPr>
        <p:spPr>
          <a:xfrm>
            <a:off x="3426100" y="3082675"/>
            <a:ext cx="5539800" cy="10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b="1" lang="fr" sz="632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------------------------------------------------------------</a:t>
            </a:r>
            <a:endParaRPr b="1" sz="632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b="1" lang="fr" sz="632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⚠️ Électricité consommée (kWh) (Electricity(kWh))  &lt;---&gt;  Électricité consommée (kBtu) (Electricity(kBtu))</a:t>
            </a:r>
            <a:endParaRPr b="1" sz="632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b="1" lang="fr" sz="632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   Indice de corrélation : 1.0000</a:t>
            </a:r>
            <a:endParaRPr b="1" sz="632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b="1" lang="fr" sz="632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------------------------------------------------------------</a:t>
            </a:r>
            <a:endParaRPr b="1" sz="632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b="1" lang="fr" sz="632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⚠️ Gaz naturel consommé (therms) (NaturalGas(therms))  &lt;---&gt;  Gaz naturel consommé (kBtu) (NaturalGas(kBtu))</a:t>
            </a:r>
            <a:endParaRPr b="1" sz="632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b="1" lang="fr" sz="632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   Indice de corrélation : 1.0000</a:t>
            </a:r>
            <a:endParaRPr b="1" sz="632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b="1" lang="fr" sz="632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------------------------------------------------------------</a:t>
            </a:r>
            <a:endParaRPr b="1" sz="632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32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9" name="Google Shape;339;g3b5321c3273_0_1002"/>
          <p:cNvSpPr txBox="1"/>
          <p:nvPr/>
        </p:nvSpPr>
        <p:spPr>
          <a:xfrm>
            <a:off x="3462638" y="1377625"/>
            <a:ext cx="2679300" cy="15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Suppression des Constantes: </a:t>
            </a:r>
            <a:endParaRPr b="1"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élimine les variables n'apportant aucune information discriminante (Entropie nulle).</a:t>
            </a:r>
            <a:endParaRPr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Élimination des Manquants Excessifs: </a:t>
            </a:r>
            <a:endParaRPr b="1"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Supprimer les colonnes Comments et Outlier.</a:t>
            </a:r>
            <a:endParaRPr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Suppression des Identifiants: </a:t>
            </a:r>
            <a:endParaRPr b="1"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Supprimer l'identifiant unique OSEBuildingID.</a:t>
            </a:r>
            <a:endParaRPr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Gestion de la Redondance: </a:t>
            </a:r>
            <a:endParaRPr b="1"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Indentifies dans la phase prealable.</a:t>
            </a:r>
            <a:endParaRPr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40" name="Google Shape;340;g3b5321c3273_0_100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37025" y="1697275"/>
            <a:ext cx="1965425" cy="148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b5321c3273_0_1011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46" name="Google Shape;346;g3b5321c3273_0_1011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g3b5321c3273_0_1011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FFFFFF"/>
                </a:solidFill>
              </a:rPr>
              <a:t>2. Gestion des valeurs manquantes</a:t>
            </a:r>
            <a:endParaRPr b="1" sz="10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48" name="Google Shape;348;g3b5321c3273_0_1011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9" name="Google Shape;349;g3b5321c3273_0_1011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50" name="Google Shape;350;g3b5321c3273_0_1011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Top 20 du rapport détaillé :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Column                       |   N_Unique |   Missing_Pct | Dtype   |      Var_Norm |   Dominant_Pct | Is_Constant   | Is_Quasi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|:-----------------------------|-----------:|--------------:|:--------|--------------:|---------------:|:--------------|:-----------|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DataYear                     |          1 |      0        | int64   |   0           |      100       | True          | False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City                         |          1 |      0        | object  | nan           |      100       | True          | False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State                        |          1 |      0        | object  | nan           |      100       | True          | False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Comments                     |          1 |    100        | float64 | nan           |      100       | True          | False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fr" sz="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DefaultData                  |          2 |      0        | bool    |   4.23855     |       94.7242  | False         | False      |</a:t>
            </a:r>
            <a:endParaRPr b="1" sz="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5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51" name="Google Shape;351;g3b5321c3273_0_10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5378" y="136956"/>
            <a:ext cx="2100450" cy="1050239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g3b5321c3273_0_1011"/>
          <p:cNvSpPr txBox="1"/>
          <p:nvPr/>
        </p:nvSpPr>
        <p:spPr>
          <a:xfrm>
            <a:off x="5531775" y="461825"/>
            <a:ext cx="3701100" cy="37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ÉTAPE 2.1 : CRÉATION DES INDICATEURS (MEMORY OF MISSINGNESS)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Feature : Nom_Original + "_IS_NAN"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--------------------------------------------------------------------------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Feature Source (Exemple)        | Feature Indicateur (Nouveau)           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|---------------------------------|----------------------------------------|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ThirdLargestPropertyUseTypeGFA  | ThirdLargestPropertyUseTypeGFA_Manquant|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SecondLargestPropertyUseType    | SecondLargestPropertyUseType_Manquant  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ENERGYSTARScore                 | ENERGYSTARScore_Manquant               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ÉTAPE 2.2 : IMPUTATION CATÉGORIELLE (SEMANTIC FILL)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Valeur de remplacement : "INCONNU"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-------------------------------------------------------------------------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SecondLargestPropertyUseType   | SecondLargestPropertyUseType_Manquant  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|--------------------------------|----------------------------------------|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"Office"                       | 0  ← Inchangé                          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| "INCONNU"                      | 1  ← Valeur imputée                    |</a:t>
            </a:r>
            <a:endParaRPr b="1" sz="7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"Retail"                       | 0  ← Inchangé                          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| "INCONNU"                      | 1  ← Valeur imputée                    |</a:t>
            </a:r>
            <a:endParaRPr b="1" sz="7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ÉTAPE 2.3 : IMPUTATION NUMÉRIQUE (ROBUST FILL)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Valeur de remplacement : Médiane du Train Set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# -------------------------------------------------------------------------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ThirdLargestPropertyUseTypeGFA | ThirdLargestPropertyUseTypeGFA_Manquant|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|--------------------------------|----------------------------------------|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150.5                          | 0  ← Inchangé                          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| 175.0 (Médiane)                | 1  ← Valeur imputée                    |</a:t>
            </a:r>
            <a:endParaRPr b="1" sz="7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| 200.0                          | 0  ← Inchangé                          |</a:t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| 175.0 (Médiane)                | 1  ← Valeur imputée                    |</a:t>
            </a:r>
            <a:endParaRPr b="1" sz="70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53" name="Google Shape;353;g3b5321c3273_0_1011"/>
          <p:cNvSpPr txBox="1"/>
          <p:nvPr/>
        </p:nvSpPr>
        <p:spPr>
          <a:xfrm>
            <a:off x="3462650" y="1396025"/>
            <a:ext cx="20679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Compléter les manquants des features catégorielles</a:t>
            </a: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“INCONNU”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4" name="Google Shape;354;g3b5321c3273_0_1011"/>
          <p:cNvSpPr txBox="1"/>
          <p:nvPr/>
        </p:nvSpPr>
        <p:spPr>
          <a:xfrm>
            <a:off x="3426103" y="2368125"/>
            <a:ext cx="2100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Compléter les manquants des features numériques 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Médiane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b5321c3273_0_1020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60" name="Google Shape;360;g3b5321c3273_0_1020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g3b5321c3273_0_1020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FFFFFF"/>
                </a:solidFill>
              </a:rPr>
              <a:t>3. Traitement de l'asymétrie et outliers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62" name="Google Shape;362;g3b5321c3273_0_1020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63" name="Google Shape;363;g3b5321c3273_0_1020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64" name="Google Shape;364;g3b5321c3273_0_1020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• SteamUse(kBtu)                           → SteamUse(kBtu)_log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Skewness avant.......:   19.152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Skewness après.......:    3.492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Amélioration.........:   15.660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65" name="Google Shape;365;g3b5321c3273_0_10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0153" y="131101"/>
            <a:ext cx="2100450" cy="737816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366" name="Google Shape;366;g3b5321c3273_0_10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89200" y="125650"/>
            <a:ext cx="3444677" cy="96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367" name="Google Shape;367;g3b5321c3273_0_10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213" y="1919538"/>
            <a:ext cx="3414651" cy="1725043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368" name="Google Shape;368;g3b5321c3273_0_1020"/>
          <p:cNvSpPr txBox="1"/>
          <p:nvPr/>
        </p:nvSpPr>
        <p:spPr>
          <a:xfrm>
            <a:off x="3457425" y="915550"/>
            <a:ext cx="2161800" cy="14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Transformation logarithmique</a:t>
            </a:r>
            <a:endParaRPr b="1" sz="8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Réduire l'asymétrie (skewness) des distributions pour rendre les données plus gaussiennes. Essentiel pour les variables avec forte asymétrie positive (longue queue à droite).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9" name="Google Shape;369;g3b5321c3273_0_1020"/>
          <p:cNvSpPr txBox="1"/>
          <p:nvPr/>
        </p:nvSpPr>
        <p:spPr>
          <a:xfrm>
            <a:off x="5650550" y="1164150"/>
            <a:ext cx="33519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Formule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x' = log₁₀(x + 1) ou x' = ln(x + 1)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utilise log(x+1) pour gérer les valeurs nulles</a:t>
            </a:r>
            <a:endParaRPr/>
          </a:p>
        </p:txBody>
      </p:sp>
      <p:sp>
        <p:nvSpPr>
          <p:cNvPr id="370" name="Google Shape;370;g3b5321c3273_0_1020"/>
          <p:cNvSpPr txBox="1"/>
          <p:nvPr/>
        </p:nvSpPr>
        <p:spPr>
          <a:xfrm>
            <a:off x="3426375" y="2054575"/>
            <a:ext cx="2223900" cy="18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✅ Avantages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Réduit l'asymétrie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Distribution plus symétrique et normale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Stabilise la variance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Homogénéise les variances entre groupes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Atténue les extrêmes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Réduit l'influence des valeurs très élevées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Linéarise les relations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Relations exponentielles → linéaires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b5321c3273_0_1029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76" name="Google Shape;376;g3b5321c3273_0_1029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g3b5321c3273_0_1029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78" name="Google Shape;378;g3b5321c3273_0_1029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79" name="Google Shape;379;g3b5321c3273_0_1029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80" name="Google Shape;380;g3b5321c3273_0_1029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• GHGEmissionsIntensity → GHGEmissionsIntensity_wins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Bornes...............: [0.03, 11.08]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Valeurs cappées......: 34 (2.04%)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- Bas (&lt; 0.03)...: 17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- Haut (&gt; 11.08).: 17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81" name="Google Shape;381;g3b5321c3273_0_10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0153" y="131101"/>
            <a:ext cx="2100450" cy="737816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382" name="Google Shape;382;g3b5321c3273_0_10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89200" y="125650"/>
            <a:ext cx="3444677" cy="96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383" name="Google Shape;383;g3b5321c3273_0_1029"/>
          <p:cNvSpPr txBox="1"/>
          <p:nvPr/>
        </p:nvSpPr>
        <p:spPr>
          <a:xfrm>
            <a:off x="3457425" y="915550"/>
            <a:ext cx="2161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Feature Clipping</a:t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Winsorisation/Clipping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(écrêtage par percentiles)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Limiter l'influence des valeurs extrêmes (outliers) sans les supprimer. On remplace les valeurs au-delà des percentiles par ces percentiles.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4" name="Google Shape;384;g3b5321c3273_0_1029"/>
          <p:cNvSpPr txBox="1"/>
          <p:nvPr/>
        </p:nvSpPr>
        <p:spPr>
          <a:xfrm>
            <a:off x="5650550" y="1164150"/>
            <a:ext cx="33519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Formule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x' = clip(x, P₁, P₉₉)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 x &lt; P₁ → x' = P₁, Si x &gt; P₉₉ → x' = P₉₉, Sinon → x' = x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P₁ = 1er percentile, P₉₉ = 99e percentile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5" name="Google Shape;385;g3b5321c3273_0_1029"/>
          <p:cNvSpPr txBox="1"/>
          <p:nvPr/>
        </p:nvSpPr>
        <p:spPr>
          <a:xfrm>
            <a:off x="3426375" y="2054575"/>
            <a:ext cx="22239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✅ Avantages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Préserve les données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Pas de suppression, seulement limitation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Réduit l'influence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Outliers ne dominent plus le modèle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Robustesse accrue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Améliore la stabilité des modèles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Conserve la taille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Aucune perte de observations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86" name="Google Shape;386;g3b5321c3273_0_10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912" y="1888559"/>
            <a:ext cx="3413250" cy="1722492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b5321c3273_0_1038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92" name="Google Shape;392;g3b5321c3273_0_1038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g3b5321c3273_0_1038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FFFFFF"/>
                </a:solidFill>
              </a:rPr>
              <a:t>4. Création de nouvelles features</a:t>
            </a:r>
            <a:endParaRPr b="1" sz="10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394" name="Google Shape;394;g3b5321c3273_0_1038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  <p:sp>
        <p:nvSpPr>
          <p:cNvPr id="395" name="Google Shape;395;g3b5321c3273_0_1038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96" name="Google Shape;396;g3b5321c3273_0_1038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cleaner_global.ajouter_feature(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nom    = 'F1_Usage_Complexity_Score',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calcul = lambda df: (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df['SecondLargestPropertyUseType'].notna().astype(int) + 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df['ThirdLargestPropertyUseType'].notna().astype(int)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).replace(2, 3),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description = "Score de complexité : 0 (mono), 1 (bi), 3 (multi-usage)",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dtype  = int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graphicFrame>
        <p:nvGraphicFramePr>
          <p:cNvPr id="397" name="Google Shape;397;g3b5321c3273_0_1038"/>
          <p:cNvGraphicFramePr/>
          <p:nvPr/>
        </p:nvGraphicFramePr>
        <p:xfrm>
          <a:off x="3462650" y="140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{14004687-029E-433C-B6F5-3E9461799E2A}</a:tableStyleId>
              </a:tblPr>
              <a:tblGrid>
                <a:gridCol w="1209975"/>
                <a:gridCol w="2087775"/>
                <a:gridCol w="2242025"/>
              </a:tblGrid>
              <a:tr h="261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Variable (Feature)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Description Métier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Logique de Calcul / Formule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>
                    <a:solidFill>
                      <a:srgbClr val="EFEFEF"/>
                    </a:solidFill>
                  </a:tcPr>
                </a:tc>
              </a:tr>
              <a:tr h="261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F1_Distance_Centre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Proximité avec le centre névralgique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Distance géospatiale (m) / Hôtel de Ville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261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F2_Distance_Port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Impact de la zone industrielle/portuaire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Distance géospatiale (m) / Port de Seattle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59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F3_Densite_Voisinage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Contexte urbain et micro-climat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Nombre de bâtiments voisins (Rayons 500-2000m)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261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F4_Taille_Ordinale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Catégorie de grandeur du bâtiment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Binning : Petit (0), Moyen (1), Grand (2)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59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F5_Usage_Diversity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Mixité simple des activités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Somme des usages secondaires et tertiaires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261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F6_Parking_Ratio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Importance des zones non-chauffées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Surface Parking / Surface Totale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59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F7_Has_Parking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Présence d'une infrastructure de stationnement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Variable Binaire (0: Non, 1: Oui)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261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F8_EnergyStar_Cat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Niveau d'efficacité certifié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Classes : Faible, Moyen, Bon, Excellent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359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F10_Primary_Use_Ratio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Spécialisation du bâtiment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Surface Usage Principal / Surface Totale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261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F11_Building_Age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Obsolescence thermique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2016 - Année de construction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  <a:tr h="261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 sz="700">
                          <a:solidFill>
                            <a:srgbClr val="1F1F1F"/>
                          </a:solidFill>
                        </a:rPr>
                        <a:t>F12_Floors_Mean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Densité verticale par structure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700">
                          <a:solidFill>
                            <a:srgbClr val="1F1F1F"/>
                          </a:solidFill>
                        </a:rPr>
                        <a:t>Nombre d'Étages / Nombre de Bâtiments</a:t>
                      </a:r>
                      <a:endParaRPr sz="700">
                        <a:solidFill>
                          <a:srgbClr val="1F1F1F"/>
                        </a:solidFill>
                      </a:endParaRPr>
                    </a:p>
                  </a:txBody>
                  <a:tcPr marT="9525" marB="91425" marR="9525" marL="9525" anchor="b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b5321c3273_0_1047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03" name="Google Shape;403;g3b5321c3273_0_1047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g3b5321c3273_0_1047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FFFFFF"/>
                </a:solidFill>
              </a:rPr>
              <a:t>5. Codification catégorielle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5.1 One-hot encoding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05" name="Google Shape;405;g3b5321c3273_0_1047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6" name="Google Shape;406;g3b5321c3273_0_1047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7" name="Google Shape;407;g3b5321c3273_0_1047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📊 Analyse de la feature : BuildingType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---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• Nombre de catégories uniques : 5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• Type de données : object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• Top 5 des catégories :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BuildingType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NonResidential        1460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SPS-District K-12       98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Nonresidential COS      85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Campus                  24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Nonresidential WA        1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8" name="Google Shape;408;g3b5321c3273_0_1047"/>
          <p:cNvSpPr txBox="1"/>
          <p:nvPr/>
        </p:nvSpPr>
        <p:spPr>
          <a:xfrm>
            <a:off x="3426062" y="863279"/>
            <a:ext cx="2161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One-Hot Encoding (OHE)</a:t>
            </a:r>
            <a:endParaRPr b="1" sz="8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Convertir les variables catégorielles en variables binaires (0/1). Chaque catégorie devient une colonne séparée. Idéal pour basse cardinalité (≤ 10 catégories).</a:t>
            </a:r>
            <a:endParaRPr b="1" sz="900">
              <a:solidFill>
                <a:srgbClr val="9999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9" name="Google Shape;409;g3b5321c3273_0_1047"/>
          <p:cNvSpPr txBox="1"/>
          <p:nvPr/>
        </p:nvSpPr>
        <p:spPr>
          <a:xfrm>
            <a:off x="5625788" y="171300"/>
            <a:ext cx="3351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Formule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X_original = [cat₁, cat₂, ..., catn] &gt; X_encoded = [X₁, X₂, ..., Xn₋₁]</a:t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Xᵢ = { 1 si catégorie = catᵢ 0 sinon }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 garde K-1 colonnes (drop_first=True) pour éviter la multicolinéarité</a:t>
            </a:r>
            <a:endParaRPr sz="1200"/>
          </a:p>
        </p:txBody>
      </p:sp>
      <p:sp>
        <p:nvSpPr>
          <p:cNvPr id="410" name="Google Shape;410;g3b5321c3273_0_1047"/>
          <p:cNvSpPr txBox="1"/>
          <p:nvPr/>
        </p:nvSpPr>
        <p:spPr>
          <a:xfrm>
            <a:off x="3426375" y="1891075"/>
            <a:ext cx="22239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✅ Avantages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Simple et intuitif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Facile à comprendre et interpréter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Sans ordre artificiel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Ne crée pas de relation ordinale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Compatible sklearn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Fonctionne avec tous les modèles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⚠️ Inconvénients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Curse of dimensionality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100 catégories = 99 colonnes !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Sparse matrices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Beaucoup de zéros (inefficace)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11" name="Google Shape;411;g3b5321c3273_0_10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5825" y="140938"/>
            <a:ext cx="2104775" cy="73931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412" name="Google Shape;412;g3b5321c3273_0_10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86575" y="985975"/>
            <a:ext cx="3430326" cy="129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3" name="Google Shape;413;g3b5321c3273_0_10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79975" y="2389950"/>
            <a:ext cx="3443524" cy="114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b5321c3273_0_1056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19" name="Google Shape;419;g3b5321c3273_0_1056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b5321c3273_0_1056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5.2 Target encoding</a:t>
            </a:r>
            <a:endParaRPr b="1" sz="10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21" name="Google Shape;421;g3b5321c3273_0_1056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22" name="Google Shape;422;g3b5321c3273_0_1056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23" name="Google Shape;423;g3b5321c3273_0_1056"/>
          <p:cNvSpPr txBox="1"/>
          <p:nvPr/>
        </p:nvSpPr>
        <p:spPr>
          <a:xfrm>
            <a:off x="3462650" y="3799675"/>
            <a:ext cx="5539800" cy="12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Target               : SiteEnergyUsekBtu_wins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Catégories           : 14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Global Mean          : 7015540.5676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Smoothing            : 10.0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CV Folds             : 5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Nouvelle colonne     : Neighborhood_Encoded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Mean               : 7073663.3544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Std                : 2762649.3178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Range              : [3495675.8322, 11959922.3127]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fr" sz="73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Missing            : 0</a:t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b="1" sz="73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3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24" name="Google Shape;424;g3b5321c3273_0_1056"/>
          <p:cNvSpPr txBox="1"/>
          <p:nvPr/>
        </p:nvSpPr>
        <p:spPr>
          <a:xfrm>
            <a:off x="3426062" y="863279"/>
            <a:ext cx="21618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Target Encoding (TE)</a:t>
            </a:r>
            <a:endParaRPr b="1" sz="8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Remplacer chaque catégorie par la moyenne de la cible pour cette catégorie. Idéal pour haute cardinalité (&gt; 10 catégories). Encode l'information prédictive directement.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5" name="Google Shape;425;g3b5321c3273_0_1056"/>
          <p:cNvSpPr txBox="1"/>
          <p:nvPr/>
        </p:nvSpPr>
        <p:spPr>
          <a:xfrm>
            <a:off x="5650550" y="113800"/>
            <a:ext cx="33273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Formule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TE(c) = (n_c × mean_c + m × mean_global) / (n_c + m)</a:t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où:</a:t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n_c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nombre d'observations dans catégorie c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mean_c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moyenne de y pour catégorie c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mean_global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moyenne globale de y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m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paramètre de smoothing (typ. 10-100)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6" name="Google Shape;426;g3b5321c3273_0_1056"/>
          <p:cNvSpPr txBox="1"/>
          <p:nvPr/>
        </p:nvSpPr>
        <p:spPr>
          <a:xfrm>
            <a:off x="3426375" y="1891075"/>
            <a:ext cx="21618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✅ Avantages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Haute cardinalité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1000 catégories → 1 seule colonne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Information prédictive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Encode directement la relation avec y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Performant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Souvent meilleur R² que OHE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⚠️ Inconvénients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Risque de leakage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Doit utiliser Cross-Validation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Plus complexe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Nécessite accès à y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Catégories nouvelles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Fallback vers moyenne globale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7" name="Google Shape;427;g3b5321c3273_0_10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5825" y="136025"/>
            <a:ext cx="2104775" cy="73931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428" name="Google Shape;428;g3b5321c3273_0_10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79975" y="1013113"/>
            <a:ext cx="3397725" cy="1278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g3b5321c3273_0_10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2875" y="2334170"/>
            <a:ext cx="3387739" cy="1352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b5321c3273_0_1065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35" name="Google Shape;435;g3b5321c3273_0_1065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g3b5321c3273_0_1065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FFFFFF"/>
                </a:solidFill>
              </a:rPr>
              <a:t>6. Réduction de la redondance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FFFFFF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Char char="●"/>
            </a:pPr>
            <a:r>
              <a:rPr b="1" lang="fr" sz="1000">
                <a:solidFill>
                  <a:srgbClr val="FFFFFF"/>
                </a:solidFill>
              </a:rPr>
              <a:t>6.2. Élimination des corrélées: supprimer si |rho| &gt; 0.99 (garder la plus liée à y)</a:t>
            </a:r>
            <a:endParaRPr b="1" sz="10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7. Standardisation. Mise à l'échelle finale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37" name="Google Shape;437;g3b5321c3273_0_1065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38" name="Google Shape;438;g3b5321c3273_0_1065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39" name="Google Shape;439;g3b5321c3273_0_1065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1. ρ = -1.0000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YearBuilt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F11_Building_Age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──────────────────────────────────────────────────────────────────────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CANDIDATS À LA SUPPRESSION (38)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──────────────────────────────────────────────────────────────────────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1. F11_Building_Age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Corrélée avec : YearBuilt (ρ=-1.0000)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Corr. target gardée   : 0.1898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Corr. target supprimée: 0.1898   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40" name="Google Shape;440;g3b5321c3273_0_10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5378" y="141175"/>
            <a:ext cx="2092825" cy="49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441" name="Google Shape;441;g3b5321c3273_0_1065"/>
          <p:cNvSpPr txBox="1"/>
          <p:nvPr/>
        </p:nvSpPr>
        <p:spPr>
          <a:xfrm>
            <a:off x="3426387" y="694354"/>
            <a:ext cx="2161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Réduction de Redondance</a:t>
            </a:r>
            <a:endParaRPr b="1" sz="8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Éliminer les variables qui sont quasi-identiques (fortement corrélées). Si deux variables mesurent presque la même chose, une seule suffit. Cela réduit la multicolinéarité et améliore l'efficacité du modèle.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2" name="Google Shape;442;g3b5321c3273_0_1065"/>
          <p:cNvSpPr txBox="1"/>
          <p:nvPr/>
        </p:nvSpPr>
        <p:spPr>
          <a:xfrm>
            <a:off x="5650550" y="113800"/>
            <a:ext cx="3327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Coefficient de corrélation de Pearson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r(X, Y) = Cov(X, Y) / (σₓ × σᵧ)</a:t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où:</a:t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Cov(X, Y)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covariance entre X et Y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σₓ, σᵧ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écarts-types de X et Y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Résultat :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r ∈ [-1, 1]</a:t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3" name="Google Shape;443;g3b5321c3273_0_1065"/>
          <p:cNvSpPr txBox="1"/>
          <p:nvPr/>
        </p:nvSpPr>
        <p:spPr>
          <a:xfrm>
            <a:off x="3426375" y="1891075"/>
            <a:ext cx="21618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✅ Avantages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Réduit la multicolinéarité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Évite que deux variables "se battent" pour expliquer la même variance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Améliore la stabilité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Coefficients du modèle plus stables et interprétables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Accélère l'entraînement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Moins de colonnes = calculs plus rapides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Évite l'overfitting</a:t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Moins de features redondantes = moins de bruit</a:t>
            </a:r>
            <a:endParaRPr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4" name="Google Shape;444;g3b5321c3273_0_1065"/>
          <p:cNvSpPr txBox="1"/>
          <p:nvPr/>
        </p:nvSpPr>
        <p:spPr>
          <a:xfrm>
            <a:off x="5588450" y="793225"/>
            <a:ext cx="34401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Matrice de corrélation </a:t>
            </a:r>
            <a:endParaRPr b="1" sz="900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Valeurs absolues: </a:t>
            </a:r>
            <a:r>
              <a:rPr lang="fr" sz="6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On prend la valeur absolue car -0.95 est aussi redondant que +0.95</a:t>
            </a:r>
            <a:endParaRPr sz="600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Triangle supérieur: </a:t>
            </a:r>
            <a:r>
              <a:rPr lang="fr" sz="600">
                <a:solidFill>
                  <a:srgbClr val="434343"/>
                </a:solidFill>
                <a:latin typeface="Montserrat"/>
                <a:ea typeface="Montserrat"/>
                <a:cs typeface="Montserrat"/>
                <a:sym typeface="Montserrat"/>
              </a:rPr>
              <a:t>Pour éviter de comparer chaque paire deux fois (X→Y et Y→X)</a:t>
            </a:r>
            <a:endParaRPr sz="600">
              <a:solidFill>
                <a:srgbClr val="43434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45" name="Google Shape;445;g3b5321c3273_0_10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13023" y="1254605"/>
            <a:ext cx="2790404" cy="240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b5321c3273_0_1083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Feature Engineering</a:t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51" name="Google Shape;451;g3b5321c3273_0_1083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g3b5321c3273_0_1083"/>
          <p:cNvSpPr txBox="1"/>
          <p:nvPr>
            <p:ph type="title"/>
          </p:nvPr>
        </p:nvSpPr>
        <p:spPr>
          <a:xfrm>
            <a:off x="566500" y="356100"/>
            <a:ext cx="2859600" cy="4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P. Prétraitement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P.1 Chargement du dataset. (shape avant et après)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P.2 Filtrage du périmètre métier : exclusion du résidentiel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P.3 Choisir la cible du modèle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P.4 Normalisation initiale (cruciale pour la cohérence)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1. Nettoyage initial et élimination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2. Gestion des valeurs manquantes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3. Traitement de l'asymétrie et outliers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3.2. Transformation logarithmique: appliquer aux variables d'énergie et surface.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3.3. Winsorisation/écrêtage: capper les valeurs aux percentiles 1% et 99%.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4. Création de nouvelles features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5. Codification catégorielle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5.1 One-hot encoding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5.2 Target encoding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999999"/>
                </a:solidFill>
              </a:rPr>
              <a:t>6. Réduction de la redondance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6.1. Analyse de corrélation: calculer la matrice de pearson post-transformations</a:t>
            </a:r>
            <a:endParaRPr b="1" sz="1000">
              <a:solidFill>
                <a:srgbClr val="999999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000"/>
              <a:buChar char="●"/>
            </a:pPr>
            <a:r>
              <a:rPr b="1" lang="fr" sz="1000">
                <a:solidFill>
                  <a:srgbClr val="999999"/>
                </a:solidFill>
              </a:rPr>
              <a:t>6.2. Élimination des corrélées: supprimer si </a:t>
            </a:r>
            <a:r>
              <a:rPr b="1" lang="fr" sz="1000">
                <a:solidFill>
                  <a:srgbClr val="999999"/>
                </a:solidFill>
              </a:rPr>
              <a:t>|rho|</a:t>
            </a:r>
            <a:r>
              <a:rPr b="1" lang="fr" sz="1000">
                <a:solidFill>
                  <a:srgbClr val="999999"/>
                </a:solidFill>
              </a:rPr>
              <a:t> &gt; 0.99 (garder la plus liée à y)</a:t>
            </a:r>
            <a:endParaRPr b="1" sz="10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000">
                <a:solidFill>
                  <a:srgbClr val="FFFFFF"/>
                </a:solidFill>
              </a:rPr>
              <a:t>7. Standardisation. Mise à l'échelle finale</a:t>
            </a:r>
            <a:endParaRPr b="1" sz="10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53" name="Google Shape;453;g3b5321c3273_0_1083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54" name="Google Shape;454;g3b5321c3273_0_1083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D2E9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55" name="Google Shape;455;g3b5321c3273_0_1083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VÉRIFICATION PRÉ-SCALING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2. NumberofBuildings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dtype=float64, unique=16, missing=0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μ =1.17, σ=2.93, range=[0.00, 111.00]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STANDARDISATION (StandardScaler)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2. NumberofBuildings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Avant : μ=1.17     , σ=2.93, range=[0.00, 111.00]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Après : μ=-2.45e-17, σ=1.00, range=[-0.40, 37.50]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56" name="Google Shape;456;g3b5321c3273_0_10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6100" y="142125"/>
            <a:ext cx="2104500" cy="492826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g3b5321c3273_0_1083"/>
          <p:cNvSpPr txBox="1"/>
          <p:nvPr/>
        </p:nvSpPr>
        <p:spPr>
          <a:xfrm>
            <a:off x="3426375" y="694351"/>
            <a:ext cx="21618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Standardisation (Feature Scaling)</a:t>
            </a:r>
            <a:endParaRPr b="1" sz="8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Transformer toutes les variables numériques pour qu'elles aient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moyenne = 0 </a:t>
            </a: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et 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écart-type = 1.</a:t>
            </a: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Cela permet aux algorithmes de traiter équitablement toutes les features, indépendamment de leur échelle d'origine.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8" name="Google Shape;458;g3b5321c3273_0_1083"/>
          <p:cNvSpPr txBox="1"/>
          <p:nvPr/>
        </p:nvSpPr>
        <p:spPr>
          <a:xfrm>
            <a:off x="5650550" y="148188"/>
            <a:ext cx="33273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StandardScaler (Z-score normalization)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z = (x - μ) / σ</a:t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où:</a:t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x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valeur originale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μ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moyenne de la feature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σ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écart-type de la feature</a:t>
            </a:r>
            <a:endParaRPr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• z </a:t>
            </a:r>
            <a:r>
              <a:rPr lang="fr" sz="7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 valeur standardisée</a:t>
            </a:r>
            <a:endParaRPr b="1" sz="7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59" name="Google Shape;459;g3b5321c3273_0_10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92105" y="1487851"/>
            <a:ext cx="3580384" cy="2226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b5321c3273_0_897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Modelisation  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65" name="Google Shape;465;g3b5321c3273_0_897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g3b5321c3273_0_897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1. Initialisation du pré-pipeline</a:t>
            </a:r>
            <a:endParaRPr b="1" sz="900">
              <a:solidFill>
                <a:srgbClr val="FFFF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Préparation des transformateurs (scaling, encodage, imputation).</a:t>
            </a:r>
            <a:endParaRPr b="1" sz="9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2. Configuration du benchmark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Définition des métriques (R², RMSE, MAE) et sélection des algorithmes candidats.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3. Benchmark des modèles : évaluation détaillée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Entraînement initial et extraction des performances moyennes par validation croisée.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4. Entraînement Final et Test (Production Ready)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FIT : Entraînement du modèle sélectionné sur la totalité du set d'entraînement (X_train). C'est ici que les poids du modèle sont fixés.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PREDICT : Projection sur les données jamais vues (X_test) pour mesurer la capacité de généralisation réelle.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 Analyse comparative et sélection du modèle optimal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5.1 Analyse des courbes de validation (Étude du surapprentissage : biais vs variance).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5.2 Inspection des résidus (Homoscédasticité et normalité des erreurs sur X_test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5.3 Importance des Features (Quelles variables de Seattle influencent le plus la consommation ?).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1000">
              <a:solidFill>
                <a:srgbClr val="FFFFFF"/>
              </a:solidFill>
            </a:endParaRPr>
          </a:p>
        </p:txBody>
      </p:sp>
      <p:sp>
        <p:nvSpPr>
          <p:cNvPr id="467" name="Google Shape;467;g3b5321c3273_0_897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68" name="Google Shape;468;g3b5321c3273_0_897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C9DAF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69" name="Google Shape;469;g3b5321c3273_0_897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ARCHITECTURE DU PRÉPROCESSEUR (SCIKIT-LEARN)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Features numériques...: 43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Features catégorielles: 8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Stratégie Imputation..: Médiane (Num) / Constante (Cat)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Normalisation.........: StandardScaler (μ=0, σ=1)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Status................: ✅ Pipeline configuré avec succès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70" name="Google Shape;470;g3b5321c3273_0_8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6100" y="233650"/>
            <a:ext cx="2696272" cy="315787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471" name="Google Shape;471;g3b5321c3273_0_89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77122" y="186481"/>
            <a:ext cx="2859599" cy="33642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b5321c3273_0_1095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Modelisation  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77" name="Google Shape;477;g3b5321c3273_0_1095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g3b5321c3273_0_1095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1. Initialisation du pré-pipeline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Préparation des transformateurs (scaling, encodage, imputation).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2. Configuration du benchmark</a:t>
            </a:r>
            <a:endParaRPr b="1" sz="900">
              <a:solidFill>
                <a:srgbClr val="FFFF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Définition des métriques (R², RMSE, MAE) et sélection des algorithmes candidats.</a:t>
            </a:r>
            <a:endParaRPr b="1" sz="9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3. Benchmark des modèles : évaluation détaillée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Entraînement initial et extraction des performances moyennes par validation croisée.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4. Entraînement Final et Test (Production Ready)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FIT : Entraînement du modèle sélectionné sur la totalité du set d'entraînement (X_train). C'est ici que les poids du modèle sont fixés.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PREDICT : Projection sur les données jamais vues (X_test) pour mesurer la capacité de généralisation réelle.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 Analyse comparative et sélection du modèle optimal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5.1 Analyse des courbes de validation (Étude du surapprentissage : biais vs variance).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5.2 Inspection des résidus (Homoscédasticité et normalité des erreurs sur X_test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5.3 Importance des Features (Quelles variables de Seattle influencent le plus la consommation ?).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79" name="Google Shape;479;g3b5321c3273_0_1095"/>
          <p:cNvSpPr/>
          <p:nvPr/>
        </p:nvSpPr>
        <p:spPr>
          <a:xfrm>
            <a:off x="3392600" y="71700"/>
            <a:ext cx="5679900" cy="32211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80" name="Google Shape;480;g3b5321c3273_0_1095"/>
          <p:cNvSpPr/>
          <p:nvPr/>
        </p:nvSpPr>
        <p:spPr>
          <a:xfrm>
            <a:off x="3392600" y="3374375"/>
            <a:ext cx="5679900" cy="1683300"/>
          </a:xfrm>
          <a:prstGeom prst="roundRect">
            <a:avLst>
              <a:gd fmla="val 3347" name="adj"/>
            </a:avLst>
          </a:prstGeom>
          <a:solidFill>
            <a:srgbClr val="C9DAF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81" name="Google Shape;481;g3b5321c3273_0_1095"/>
          <p:cNvSpPr txBox="1"/>
          <p:nvPr/>
        </p:nvSpPr>
        <p:spPr>
          <a:xfrm>
            <a:off x="3462650" y="3426825"/>
            <a:ext cx="5539800" cy="15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CATALOGUE DE MODÉLISATION INITIALISÉ (SEED: 42)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Modèle 01 : Baseline (Moyenne)............: En attente de validation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Modèle 02 : Régression Linéaire...........: En attente de validation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Modèle 03 : SVR (RBF).....................: En attente de validation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Modèle 04 : Random Forest.................: En attente de validation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PARAMÈTRES DE VALIDATION CROISÉE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Nombre de Folds.......: 5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Mélange des données...: True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Métriques suivies.....: ['r2', 'mae', 'rmse']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Graine aléatoire (SEED): 42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Status................: ✅ Prêt pour le benchmark</a:t>
            </a:r>
            <a:endParaRPr b="1" sz="79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797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</a:t>
            </a:r>
            <a:endParaRPr b="1" sz="797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82" name="Google Shape;482;g3b5321c3273_0_10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1675" y="716875"/>
            <a:ext cx="5296849" cy="200102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b5321c3273_0_1104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Modelisation  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88" name="Google Shape;488;g3b5321c3273_0_1104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g3b5321c3273_0_1104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1. Initialisation du pré-pipeline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Préparation des transformateurs (scaling, encodage, imputation).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2. Configuration du benchmark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Définition des métriques (R², RMSE, MAE) et sélection des algorithmes candidats.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3. Benchmark des modèles : évaluation détaillée</a:t>
            </a:r>
            <a:endParaRPr b="1" sz="900">
              <a:solidFill>
                <a:srgbClr val="FFFF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Entraînement initial et extraction des performances moyennes par validation croisée.</a:t>
            </a:r>
            <a:endParaRPr b="1" sz="9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4. Entraînement Final et Test (Production Ready)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FIT : Entraînement du modèle sélectionné sur la totalité du set d'entraînement (X_train). C'est ici que les poids du modèle sont fixés.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PREDICT : Projection sur les données jamais vues (X_test) pour mesurer la capacité de généralisation réelle.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 Analyse comparative et sélection du modèle optimal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5.1 Analyse des courbes de validation (Étude du surapprentissage : biais vs variance).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5.2 Inspection des résidus (Homoscédasticité et normalité des erreurs sur X_test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5.3 Importance des Features (Quelles variables de Seattle influencent le plus la consommation ?).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90" name="Google Shape;490;g3b5321c3273_0_1104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91" name="Google Shape;491;g3b5321c3273_0_1104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C9DAF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92" name="Google Shape;492;g3b5321c3273_0_1104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🔄 Cross-validation pour Régression Linéaire...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✅ Régression Linéaire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R²   train..: 0.4908 | CV: 0.4259 ± 0.1664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MAE  train..: 3984754.81 | CV: 4490683.10 ± 189872.68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RMSE train..: 10913064.24 | CV: 11215698.42 ± -4763989.50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✅ Bon équilibre train/CV</a:t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93" name="Google Shape;493;g3b5321c3273_0_1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9210" y="123675"/>
            <a:ext cx="4428374" cy="3565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b5321c3273_0_1113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Modelisation  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499" name="Google Shape;499;g3b5321c3273_0_1113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g3b5321c3273_0_1113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1. Initialisation du pré-pipeline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Préparation des transformateurs (scaling, encodage, imputation).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2. Configuration du benchmark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Définition des métriques (R², RMSE, MAE) et sélection des algorithmes candidats.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3. Benchmark des modèles : évaluation détaillée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Entraînement initial et extraction des performances moyennes par validation croisée.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4. Entraînement Final et Test (Production Ready)</a:t>
            </a:r>
            <a:endParaRPr b="1" sz="900">
              <a:solidFill>
                <a:srgbClr val="FFFF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FIT : Entraînement du modèle sélectionné sur la totalité du set d'entraînement (X_train). C'est ici que les poids du modèle sont fixés.</a:t>
            </a:r>
            <a:endParaRPr b="1" sz="900">
              <a:solidFill>
                <a:srgbClr val="FFFF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PREDICT : Projection sur les données jamais vues (X_test) pour mesurer la capacité de généralisation réelle.</a:t>
            </a:r>
            <a:endParaRPr b="1" sz="9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 Analyse comparative et sélection du modèle optimal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5.1 Analyse des courbes de validation (Étude du surapprentissage : biais vs variance).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5.2 Inspection des résidus (Homoscédasticité et normalité des erreurs sur X_test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5.3 Importance des Features (Quelles variables de Seattle influencent le plus la consommation ?).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1000">
              <a:solidFill>
                <a:srgbClr val="666666"/>
              </a:solidFill>
            </a:endParaRPr>
          </a:p>
        </p:txBody>
      </p:sp>
      <p:sp>
        <p:nvSpPr>
          <p:cNvPr id="501" name="Google Shape;501;g3b5321c3273_0_1113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02" name="Google Shape;502;g3b5321c3273_0_1113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C9DAF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03" name="Google Shape;503;g3b5321c3273_0_1113"/>
          <p:cNvSpPr txBox="1"/>
          <p:nvPr/>
        </p:nvSpPr>
        <p:spPr>
          <a:xfrm>
            <a:off x="3437200" y="3817301"/>
            <a:ext cx="55398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📦 ENTRAÎNEMENT DU MODÈLE OPTIMAL : Random Forest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🚀 Entraînement final de Random Forest sur le jeu complet...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BILAN FINAL DU PIPELINE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Modèle entraîné.....: Random Forest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Performance R² Test.: 0.2923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✅ Pipeline sauvegardé : 'best_model_pipeline.pkl'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Taille disque......: 4119.89 KB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504" name="Google Shape;504;g3b5321c3273_0_11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62648" y="101798"/>
            <a:ext cx="5539801" cy="36002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b5321c3273_0_1376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Modelisation  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510" name="Google Shape;510;g3b5321c3273_0_1376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g3b5321c3273_0_1376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1. Initialisation du pré-pipeline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Préparation des transformateurs (scaling, encodage, imputation).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2. Configuration du benchmark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Définition des métriques (R², RMSE, MAE) et sélection des algorithmes candidats.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3. Benchmark des modèles : évaluation détaillée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Entraînement initial et extraction des performances moyennes par validation croisée.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4. Entraînement Final et Test (Production Ready)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FIT : Entraînement du modèle sélectionné sur la totalité du set d'entraînement (X_train). C'est ici que les poids du modèle sont fixés.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PREDICT : Projection sur les données jamais vues (X_test) pour mesurer la capacité de généralisation réelle.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5. Analyse comparative et sélection du modèle optimal</a:t>
            </a:r>
            <a:endParaRPr b="1" sz="900">
              <a:solidFill>
                <a:srgbClr val="FFFF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5.1 Analyse des courbes de validation (Étude du surapprentissage : biais vs variance).</a:t>
            </a:r>
            <a:endParaRPr b="1" sz="900">
              <a:solidFill>
                <a:srgbClr val="FFFF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5.2 Inspection des résidus (Homoscédasticité et normalité des erreurs sur X_test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5.3 Importance des Features (Quelles variables de Seattle influencent le plus la consommation ?).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</p:txBody>
      </p:sp>
      <p:sp>
        <p:nvSpPr>
          <p:cNvPr id="512" name="Google Shape;512;g3b5321c3273_0_1376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13" name="Google Shape;513;g3b5321c3273_0_1376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C9DAF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14" name="Google Shape;514;g3b5321c3273_0_1376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📊 Interprétation Biais-Variance: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❌ Random Forest             → Surapprentissage (gap = 0.115)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❌ Régression Linéaire       → Surapprentissage (gap = 0.197)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❌ SVR (RBF)                 → Surapprentissage (gap = 0.176)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✅ Baseline (Moyenne)        → Bon équilibre (gap = 0.004)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15" name="Google Shape;515;g3b5321c3273_0_13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80650" y="159850"/>
            <a:ext cx="5093223" cy="147892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516" name="Google Shape;516;g3b5321c3273_0_1376"/>
          <p:cNvSpPr txBox="1"/>
          <p:nvPr/>
        </p:nvSpPr>
        <p:spPr>
          <a:xfrm>
            <a:off x="3426097" y="2015072"/>
            <a:ext cx="27327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📊 </a:t>
            </a: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Diagnostic 5.1 : Biais-Variance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Surapprentissage généralisé : 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Tous les modèles dépassent le seuil critique de 0.10 (Zone Rouge).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Meilleur candidat : 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 Random Forest est le plus performant, malgré un écart (gap) de 0.115.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Instabilité linéaire : 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La Régression Linéaire échoue avec le plus fort surapprentissage (0.197).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7" name="Google Shape;517;g3b5321c3273_0_1376"/>
          <p:cNvSpPr txBox="1"/>
          <p:nvPr/>
        </p:nvSpPr>
        <p:spPr>
          <a:xfrm>
            <a:off x="6305247" y="1979422"/>
            <a:ext cx="27327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🎯 Diagnostic 5.3 : Importance des Features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Ultra-concentration : 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Deux variables seulement (Noms a determiner) dictent 93% du modèle.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Stabilité des poids : 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Les faibles barres d'erreur confirment que ces deux piliers sont fiables.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Loi de Pareto : 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Le reste des 46 variables n'apporte quasiment aucun signal utile au modèle.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8" name="Google Shape;518;g3b5321c3273_0_1376"/>
          <p:cNvSpPr txBox="1"/>
          <p:nvPr/>
        </p:nvSpPr>
        <p:spPr>
          <a:xfrm>
            <a:off x="3444350" y="1633941"/>
            <a:ext cx="5576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 la barre orange (CV) est beaucoup plus basse que la bleue(Train), on visualises physiquement la Variance (Surapprentissage).</a:t>
            </a:r>
            <a:endParaRPr sz="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 la moustache de la barre orange (CV) est très longue, signifie que les performances du modèle sont instables selon les données qu'il reçoit.</a:t>
            </a:r>
            <a:endParaRPr sz="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b5321c3273_0_1392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Modelisation  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524" name="Google Shape;524;g3b5321c3273_0_1392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g3b5321c3273_0_1392"/>
          <p:cNvSpPr txBox="1"/>
          <p:nvPr>
            <p:ph type="title"/>
          </p:nvPr>
        </p:nvSpPr>
        <p:spPr>
          <a:xfrm>
            <a:off x="566488" y="351266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1. Initialisation du pré-pipeline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Préparation des transformateurs (scaling, encodage, imputation).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2. Configuration du benchmark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Définition des métriques (R², RMSE, MAE) et sélection des algorithmes candidats.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3. Benchmark des modèles : évaluation détaillée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Entraînement initial et extraction des performances moyennes par validation croisée.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4. Entraînement Final et Test (Production Ready)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FIT : Entraînement du modèle sélectionné sur la totalité du set d'entraînement (X_train). C'est ici que les poids du modèle sont fixés.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PREDICT : Projection sur les données jamais vues (X_test) pour mesurer la capacité de généralisation réelle.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 Analyse comparative et sélection du modèle optimal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5.1 Analyse des courbes de validation (Étude du surapprentissage : biais vs variance).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5.2 Inspection des résidus (Homoscédasticité et normalité des erreurs sur X_test</a:t>
            </a:r>
            <a:endParaRPr b="1" sz="900">
              <a:solidFill>
                <a:srgbClr val="FFFFFF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5.3 Importance des Features (Quelles variables de Seattle influencent le plus la consommation ?).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666666"/>
              </a:solidFill>
            </a:endParaRPr>
          </a:p>
        </p:txBody>
      </p:sp>
      <p:sp>
        <p:nvSpPr>
          <p:cNvPr id="526" name="Google Shape;526;g3b5321c3273_0_1392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27" name="Google Shape;527;g3b5321c3273_0_1392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C9DAF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28" name="Google Shape;528;g3b5321c3273_0_1392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🔬 Diagnostic des Résidus: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• Homoscédasticité...: ⚠️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• Normalité..........: ⚠️ Non-normaux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• Autocorrélation....: ✅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29" name="Google Shape;529;g3b5321c3273_0_1392"/>
          <p:cNvSpPr txBox="1"/>
          <p:nvPr/>
        </p:nvSpPr>
        <p:spPr>
          <a:xfrm>
            <a:off x="3426100" y="141175"/>
            <a:ext cx="5576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H</a:t>
            </a:r>
            <a:r>
              <a:rPr b="1" lang="fr" sz="900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omoscédasticité </a:t>
            </a:r>
            <a:r>
              <a:rPr lang="fr" sz="900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indique si</a:t>
            </a:r>
            <a:r>
              <a:rPr b="1" lang="fr" sz="900">
                <a:solidFill>
                  <a:srgbClr val="666666"/>
                </a:solidFill>
                <a:latin typeface="Montserrat"/>
                <a:ea typeface="Montserrat"/>
                <a:cs typeface="Montserrat"/>
                <a:sym typeface="Montserrat"/>
              </a:rPr>
              <a:t> "Les erreurs de prédiction sont-elles régulières partout ?"</a:t>
            </a:r>
            <a:endParaRPr b="1" sz="900">
              <a:solidFill>
                <a:srgbClr val="66666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66666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30" name="Google Shape;530;g3b5321c3273_0_13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79725" y="619805"/>
            <a:ext cx="3522775" cy="26299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531" name="Google Shape;531;g3b5321c3273_0_1392"/>
          <p:cNvSpPr txBox="1"/>
          <p:nvPr/>
        </p:nvSpPr>
        <p:spPr>
          <a:xfrm>
            <a:off x="3426387" y="469554"/>
            <a:ext cx="2161800" cy="33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4 graphiques :</a:t>
            </a:r>
            <a:endParaRPr b="1" sz="8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Résidus vs Prédictions</a:t>
            </a: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Test homoscédasticité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Vérifie si les erreurs sont constantes partout (pas d'entonnoir)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Histogramme</a:t>
            </a: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Distribution des erreurs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Vérifie si les erreurs sont symétriques autour de zéro (forme de cloche)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Q-Q Plot</a:t>
            </a: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Test normalité (Shapiro-Wilk)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Vérifie si les erreurs suivent une loi normale (points sur la diagonale)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Résidus vs Ordre 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Test autocorrélation (Durbin-Watson)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→ Vérifie si les erreurs sont indépendantes (pas de pattern/vague)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b5321c3273_0_1421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Modelisation  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537" name="Google Shape;537;g3b5321c3273_0_1421"/>
          <p:cNvSpPr txBox="1"/>
          <p:nvPr/>
        </p:nvSpPr>
        <p:spPr>
          <a:xfrm>
            <a:off x="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g3b5321c3273_0_1421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1. Initialisation du pré-pipeline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Préparation des transformateurs (scaling, encodage, imputation).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2. Configuration du benchmark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Définition des métriques (R², RMSE, MAE) et sélection des algorithmes candidats.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3. Benchmark des modèles : évaluation détaillée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Entraînement initial et extraction des performances moyennes par validation croisée.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4. Entraînement Final et Test (Production Ready)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FIT : Entraînement du modèle sélectionné sur la totalité du set d'entraînement (X_train). C'est ici que les poids du modèle sont fixés.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PREDICT : Projection sur les données jamais vues (X_test) pour mesurer la capacité de généralisation réelle.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 Analyse comparative et sélection du modèle optimal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5.1 Analyse des courbes de validation (Étude du surapprentissage : biais vs variance).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5.2 Inspection des résidus (Homoscédasticité et normalité des erreurs sur X_test</a:t>
            </a:r>
            <a:endParaRPr b="1" sz="900">
              <a:solidFill>
                <a:srgbClr val="666666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5.3 Importance des Features (Quelles variables de Seattle influencent le plus la consommation ?).</a:t>
            </a:r>
            <a:endParaRPr b="1" sz="9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666666"/>
              </a:solidFill>
            </a:endParaRPr>
          </a:p>
        </p:txBody>
      </p:sp>
      <p:sp>
        <p:nvSpPr>
          <p:cNvPr id="539" name="Google Shape;539;g3b5321c3273_0_1421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0" name="Google Shape;540;g3b5321c3273_0_1421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C9DAF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1" name="Google Shape;541;g3b5321c3273_0_1421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🎯 Insights sur les Features: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• 23 features capturent 80% de l'importance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• 23 features capturent 90% de l'importance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• Total de features: 48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42" name="Google Shape;542;g3b5321c3273_0_14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0599" y="546650"/>
            <a:ext cx="3471851" cy="258074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543" name="Google Shape;543;g3b5321c3273_0_1421"/>
          <p:cNvSpPr txBox="1"/>
          <p:nvPr/>
        </p:nvSpPr>
        <p:spPr>
          <a:xfrm>
            <a:off x="3426112" y="141179"/>
            <a:ext cx="21618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Importance des Features</a:t>
            </a:r>
            <a:endParaRPr b="1" sz="8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Permutation Importance (model-agnostic)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Top 20 Features (Texte) : Domination absolue de deux variables (Noms à identifier) qui concentrent à elles seules près de 93% du pouvoir prédictif du modèle.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Top 15 features visualisées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Stabilité statistique satisfaisante (barres d'erreur courtes), confirmant que l'importance de ces variables est structurelle et non due au hasard des permutations.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Courbe cumulative (combien de features pour 80%?)</a:t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Pente extrêmement verticale ; le modèle est "paresseux" car il dépend d'un très petit nombre de variables pour expliquer la quasi-totalité du phénomène.</a:t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b5321c3273_0_905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Optimisation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549" name="Google Shape;549;g3b5321c3273_0_905"/>
          <p:cNvSpPr txBox="1"/>
          <p:nvPr/>
        </p:nvSpPr>
        <p:spPr>
          <a:xfrm>
            <a:off x="-5865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g3b5321c3273_0_905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1. Optimisation du modèle champion (Random Forest)</a:t>
            </a:r>
            <a:endParaRPr b="1" sz="900">
              <a:solidFill>
                <a:srgbClr val="FFFFFF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Char char="●"/>
            </a:pPr>
            <a:r>
              <a:rPr b="1" lang="fr" sz="900">
                <a:solidFill>
                  <a:srgbClr val="FFFFFF"/>
                </a:solidFill>
              </a:rPr>
              <a:t>1.1 Recherche par grille (Grid Search) rapide : test de faisabilité technique.</a:t>
            </a:r>
            <a:endParaRPr b="1" sz="900">
              <a:solidFill>
                <a:srgbClr val="FFFFFF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Char char="●"/>
            </a:pPr>
            <a:r>
              <a:rPr b="1" lang="fr" sz="900">
                <a:solidFill>
                  <a:srgbClr val="FFFFFF"/>
                </a:solidFill>
              </a:rPr>
              <a:t>1.2 Recherche par grille complète : optimisation fine des hyperparamètres.</a:t>
            </a:r>
            <a:endParaRPr b="1" sz="9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2. Gestion du modèle et tests préliminaires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2.1 Désérialisation et récupération des meilleurs résultats (chargement du modèle).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2.2 Test d'inférence : simulation de prédiction sur de nouvelles données.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3. Analyse et interprétation finale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3.1 Audit de robustesse du modèle optimisé (stabilité des performances).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3.2 Extraction de l'importance des variables (Feature Importance).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4. Entraînement du modèle final (Production Ready)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4.1 Ajustement (Fit) du pipeline complet sur l'ensemble des données d'entraînement.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4.2 Sauvegarde finale du binaire (Sérialisation .pkl) pour le déploiement.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</p:txBody>
      </p:sp>
      <p:sp>
        <p:nvSpPr>
          <p:cNvPr id="551" name="Google Shape;551;g3b5321c3273_0_905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52" name="Google Shape;552;g3b5321c3273_0_905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EAD3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53" name="Google Shape;553;g3b5321c3273_0_905"/>
          <p:cNvSpPr txBox="1"/>
          <p:nvPr/>
        </p:nvSpPr>
        <p:spPr>
          <a:xfrm>
            <a:off x="3462650" y="3799675"/>
            <a:ext cx="55398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🌙 SESSION DE CALCUL NOCTURNE : GRID SEARCH EXHAUSTIF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Fitting 5 folds for each of 288 candidates, totalling 1440 fits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Statut final...........: Terminé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Temps de calcul........: 13.35 minutes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Meilleurs paramètres...: {'max_depth': 30, 'max_features': 'sqrt', 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     'min_samples_leaf': 1, 'min_samples_split': 2, 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     'n_estimators': 500}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RMSE de validation.....: 1524013.4117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Fichier de sauvegarde..: grid_search_results.pkl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3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</a:t>
            </a:r>
            <a:endParaRPr b="1" sz="3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54" name="Google Shape;554;g3b5321c3273_0_9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02054" y="106438"/>
            <a:ext cx="5067345" cy="3600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b5321c3273_0_1125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Optimisation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560" name="Google Shape;560;g3b5321c3273_0_1125"/>
          <p:cNvSpPr txBox="1"/>
          <p:nvPr/>
        </p:nvSpPr>
        <p:spPr>
          <a:xfrm>
            <a:off x="-5865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g3b5321c3273_0_1125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666666"/>
                </a:solidFill>
              </a:rPr>
              <a:t>1. Optimisation du modèle champion (Random Forest)</a:t>
            </a:r>
            <a:endParaRPr b="1" sz="900">
              <a:solidFill>
                <a:srgbClr val="666666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Char char="●"/>
            </a:pPr>
            <a:r>
              <a:rPr b="1" lang="fr" sz="900">
                <a:solidFill>
                  <a:srgbClr val="666666"/>
                </a:solidFill>
              </a:rPr>
              <a:t>1.1 Recherche par grille (Grid Search) rapide : test de faisabilité technique.</a:t>
            </a:r>
            <a:endParaRPr b="1" sz="900">
              <a:solidFill>
                <a:srgbClr val="666666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00"/>
              <a:buChar char="●"/>
            </a:pPr>
            <a:r>
              <a:rPr b="1" lang="fr" sz="900">
                <a:solidFill>
                  <a:srgbClr val="666666"/>
                </a:solidFill>
              </a:rPr>
              <a:t>1.2 Recherche par grille complète : optimisation fine des hyperparamètres.</a:t>
            </a:r>
            <a:endParaRPr b="1" sz="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2. Gestion du modèle et tests préliminaires</a:t>
            </a:r>
            <a:endParaRPr b="1" sz="900">
              <a:solidFill>
                <a:srgbClr val="FFFFFF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Char char="●"/>
            </a:pPr>
            <a:r>
              <a:rPr b="1" lang="fr" sz="900">
                <a:solidFill>
                  <a:srgbClr val="FFFFFF"/>
                </a:solidFill>
              </a:rPr>
              <a:t>2.1 Désérialisation et récupération des meilleurs résultats (chargement du modèle).</a:t>
            </a:r>
            <a:endParaRPr b="1" sz="900">
              <a:solidFill>
                <a:srgbClr val="FFFFFF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Char char="●"/>
            </a:pPr>
            <a:r>
              <a:rPr b="1" lang="fr" sz="900">
                <a:solidFill>
                  <a:srgbClr val="FFFFFF"/>
                </a:solidFill>
              </a:rPr>
              <a:t>2.2 Test d'inférence : simulation de prédiction sur de nouvelles données.</a:t>
            </a:r>
            <a:endParaRPr b="1" sz="9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3. Analyse et interprétation finale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3.1 Audit de robustesse du modèle optimisé (stabilité des performances).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3.2 Extraction de l'importance des variables (Feature Importance).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4. Entraînement du modèle final (Production Ready)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4.1 Ajustement (Fit) du pipeline complet sur l'ensemble des données d'entraînement.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4.2 Sauvegarde finale du binaire (Sérialisation .pkl) pour le déploiement.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</p:txBody>
      </p:sp>
      <p:sp>
        <p:nvSpPr>
          <p:cNvPr id="562" name="Google Shape;562;g3b5321c3273_0_1125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63" name="Google Shape;563;g3b5321c3273_0_1125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EAD3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64" name="Google Shape;564;g3b5321c3273_0_1125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65" name="Google Shape;565;g3b5321c3273_0_11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62650" y="141175"/>
            <a:ext cx="5539801" cy="29681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3b5321c3273_0_1134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Optimisation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571" name="Google Shape;571;g3b5321c3273_0_1134"/>
          <p:cNvSpPr txBox="1"/>
          <p:nvPr/>
        </p:nvSpPr>
        <p:spPr>
          <a:xfrm>
            <a:off x="-5865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g3b5321c3273_0_1134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1. Optimisation du modèle champion (Random Forest)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1.1 Recherche par grille (Grid Search) rapide : test de faisabilité technique.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1.2 Recherche par grille complète : optimisation fine des hyperparamètres.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2. Gestion du modèle et tests préliminaires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2.1 Désérialisation et récupération des meilleurs résultats (chargement du modèle).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2.2 Test d'inférence : simulation de prédiction sur de nouvelles données.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3. Analyse et interprétation finale</a:t>
            </a:r>
            <a:endParaRPr b="1" sz="900">
              <a:solidFill>
                <a:srgbClr val="FFFFFF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Char char="●"/>
            </a:pPr>
            <a:r>
              <a:rPr b="1" lang="fr" sz="900">
                <a:solidFill>
                  <a:srgbClr val="FFFFFF"/>
                </a:solidFill>
              </a:rPr>
              <a:t>3.1 Audit de robustesse du modèle optimisé (stabilité des performances).</a:t>
            </a:r>
            <a:endParaRPr b="1" sz="900">
              <a:solidFill>
                <a:srgbClr val="FFFFFF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Char char="●"/>
            </a:pPr>
            <a:r>
              <a:rPr b="1" lang="fr" sz="900">
                <a:solidFill>
                  <a:srgbClr val="FFFFFF"/>
                </a:solidFill>
              </a:rPr>
              <a:t>3.2 Extraction de l'importance des variables (Feature Importance).</a:t>
            </a:r>
            <a:endParaRPr b="1" sz="9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4. Entraînement du modèle final (Production Ready)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4.1 Ajustement (Fit) du pipeline complet sur l'ensemble des données d'entraînement.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4.2 Sauvegarde finale du binaire (Sérialisation .pkl) pour le déploiement.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</p:txBody>
      </p:sp>
      <p:sp>
        <p:nvSpPr>
          <p:cNvPr id="573" name="Google Shape;573;g3b5321c3273_0_1134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74" name="Google Shape;574;g3b5321c3273_0_1134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EAD3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75" name="Google Shape;575;g3b5321c3273_0_1134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🔍 TOP DES VARIABLES LES PLUS INFLUYENTES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Source : Importance des Variables (Arbres/Forêts)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01. num__PropertyGFATotal...................: 0.4528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02. num__LargestPropertyUseTypeGFA..........: 0.2789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03. num__GHGEmissionsIntensity..............: 0.1531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04. num__ENERGYSTARScore....................: 0.0116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05. num__PrimaryPropertyType_Encoded........: 0.0078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76" name="Google Shape;576;g3b5321c3273_0_11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3525" y="244575"/>
            <a:ext cx="5338051" cy="316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b5321c3273_0_1143"/>
          <p:cNvSpPr txBox="1"/>
          <p:nvPr>
            <p:ph type="title"/>
          </p:nvPr>
        </p:nvSpPr>
        <p:spPr>
          <a:xfrm>
            <a:off x="566488" y="0"/>
            <a:ext cx="26343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00"/>
              <a:t>Optimisation</a:t>
            </a:r>
            <a:endParaRPr sz="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800">
              <a:solidFill>
                <a:schemeClr val="lt1"/>
              </a:solidFill>
            </a:endParaRPr>
          </a:p>
        </p:txBody>
      </p:sp>
      <p:sp>
        <p:nvSpPr>
          <p:cNvPr id="582" name="Google Shape;582;g3b5321c3273_0_1143"/>
          <p:cNvSpPr txBox="1"/>
          <p:nvPr/>
        </p:nvSpPr>
        <p:spPr>
          <a:xfrm>
            <a:off x="-58650" y="0"/>
            <a:ext cx="3747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1" sz="65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g3b5321c3273_0_1143"/>
          <p:cNvSpPr txBox="1"/>
          <p:nvPr>
            <p:ph type="title"/>
          </p:nvPr>
        </p:nvSpPr>
        <p:spPr>
          <a:xfrm>
            <a:off x="566488" y="356100"/>
            <a:ext cx="28596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1. Optimisation du modèle champion (Random Forest)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1.1 Recherche par grille (Grid Search) rapide : test de faisabilité technique.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1.2 Recherche par grille complète : optimisation fine des hyperparamètres.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2. Gestion du modèle et tests préliminaires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2.1 Désérialisation et récupération des meilleurs résultats (chargement du modèle).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2.2 Test d'inférence : simulation de prédiction sur de nouvelles données.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999999"/>
                </a:solidFill>
              </a:rPr>
              <a:t>3. Analyse et interprétation finale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3.1 Audit de robustesse du modèle optimisé (stabilité des performances).</a:t>
            </a:r>
            <a:endParaRPr b="1" sz="900">
              <a:solidFill>
                <a:srgbClr val="999999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900"/>
              <a:buChar char="●"/>
            </a:pPr>
            <a:r>
              <a:rPr b="1" lang="fr" sz="900">
                <a:solidFill>
                  <a:srgbClr val="999999"/>
                </a:solidFill>
              </a:rPr>
              <a:t>3.2 Extraction de l'importance des variables (Feature Importance).</a:t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rgbClr val="FFFFFF"/>
                </a:solidFill>
              </a:rPr>
              <a:t>4. Entraînement du modèle final (Production Ready)</a:t>
            </a:r>
            <a:endParaRPr b="1" sz="900">
              <a:solidFill>
                <a:srgbClr val="FFFFFF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Char char="●"/>
            </a:pPr>
            <a:r>
              <a:rPr b="1" lang="fr" sz="900">
                <a:solidFill>
                  <a:srgbClr val="FFFFFF"/>
                </a:solidFill>
              </a:rPr>
              <a:t>4.1 Ajustement (Fit) du pipeline complet sur l'ensemble des données d'entraînement.</a:t>
            </a:r>
            <a:endParaRPr b="1" sz="900">
              <a:solidFill>
                <a:srgbClr val="FFFFFF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Char char="●"/>
            </a:pPr>
            <a:r>
              <a:rPr b="1" lang="fr" sz="900">
                <a:solidFill>
                  <a:srgbClr val="FFFFFF"/>
                </a:solidFill>
              </a:rPr>
              <a:t>4.2 Sauvegarde finale du binaire (Sérialisation .pkl) pour le déploiement.</a:t>
            </a:r>
            <a:endParaRPr b="1" sz="9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Font typeface="Montserrat"/>
              <a:buNone/>
            </a:pPr>
            <a:r>
              <a:t/>
            </a:r>
            <a:endParaRPr b="1" sz="900">
              <a:solidFill>
                <a:srgbClr val="999999"/>
              </a:solidFill>
            </a:endParaRPr>
          </a:p>
        </p:txBody>
      </p:sp>
      <p:sp>
        <p:nvSpPr>
          <p:cNvPr id="584" name="Google Shape;584;g3b5321c3273_0_1143"/>
          <p:cNvSpPr/>
          <p:nvPr/>
        </p:nvSpPr>
        <p:spPr>
          <a:xfrm>
            <a:off x="3392600" y="71700"/>
            <a:ext cx="5679900" cy="3669600"/>
          </a:xfrm>
          <a:prstGeom prst="roundRect">
            <a:avLst>
              <a:gd fmla="val 1858" name="adj"/>
            </a:avLst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85" name="Google Shape;585;g3b5321c3273_0_1143"/>
          <p:cNvSpPr/>
          <p:nvPr/>
        </p:nvSpPr>
        <p:spPr>
          <a:xfrm>
            <a:off x="3392600" y="3799675"/>
            <a:ext cx="5679900" cy="1257900"/>
          </a:xfrm>
          <a:prstGeom prst="roundRect">
            <a:avLst>
              <a:gd fmla="val 3347" name="adj"/>
            </a:avLst>
          </a:prstGeom>
          <a:solidFill>
            <a:srgbClr val="D9EAD3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86" name="Google Shape;586;g3b5321c3273_0_1143"/>
          <p:cNvSpPr txBox="1"/>
          <p:nvPr/>
        </p:nvSpPr>
        <p:spPr>
          <a:xfrm>
            <a:off x="3462650" y="3855475"/>
            <a:ext cx="5539800" cy="11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BILAN FINAL DU PIPELINE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Modèle entraîné.....: Random Forest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Performance R² Test.: 0.2923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============================================================================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✅ Pipeline sauvegardé : 'best_model_pipeline.pkl'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État du modèle.....: ENTRAÎNÉ (FIT OK)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Taille disque......: 4119.89 KB</a:t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87" name="Google Shape;587;g3b5321c3273_0_1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2873" y="136350"/>
            <a:ext cx="4746500" cy="3540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6"/>
          <p:cNvSpPr txBox="1"/>
          <p:nvPr>
            <p:ph type="title"/>
          </p:nvPr>
        </p:nvSpPr>
        <p:spPr>
          <a:xfrm>
            <a:off x="1111250" y="90000"/>
            <a:ext cx="7197600" cy="9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</a:pPr>
            <a:r>
              <a:rPr b="0" lang="fr" sz="2100" u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Bilan du projet réalisé</a:t>
            </a:r>
            <a:endParaRPr b="0" sz="21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6"/>
          <p:cNvSpPr txBox="1"/>
          <p:nvPr>
            <p:ph idx="1" type="body"/>
          </p:nvPr>
        </p:nvSpPr>
        <p:spPr>
          <a:xfrm>
            <a:off x="1165200" y="2359125"/>
            <a:ext cx="7978800" cy="32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None/>
            </a:pPr>
            <a:r>
              <a:rPr b="1" lang="fr"/>
              <a:t>🚧</a:t>
            </a:r>
            <a:r>
              <a:rPr b="1" i="0" lang="fr" sz="13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Les défis techniques rencontrés </a:t>
            </a:r>
            <a:endParaRPr b="1" i="0" sz="1300" u="none" cap="none" strike="noStrike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b="1" lang="fr"/>
              <a:t>Départ</a:t>
            </a:r>
            <a:r>
              <a:rPr b="1" lang="fr"/>
              <a:t> </a:t>
            </a:r>
            <a:r>
              <a:rPr b="1" lang="fr"/>
              <a:t>précipité</a:t>
            </a:r>
            <a:r>
              <a:rPr b="1" lang="fr"/>
              <a:t> dans la implementation de </a:t>
            </a:r>
            <a:r>
              <a:rPr b="1" lang="fr"/>
              <a:t>fonctions</a:t>
            </a:r>
            <a:r>
              <a:rPr b="1" lang="fr"/>
              <a:t> </a:t>
            </a:r>
            <a:r>
              <a:rPr b="1" lang="fr"/>
              <a:t>d'étude</a:t>
            </a:r>
            <a:r>
              <a:rPr b="1" lang="fr"/>
              <a:t> et modification du dataset.</a:t>
            </a:r>
            <a:endParaRPr b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fr"/>
              <a:t>Avantage de pouvoir disposer des listes pour traiter a posteriori</a:t>
            </a:r>
            <a:endParaRPr b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fr"/>
              <a:t>Création</a:t>
            </a:r>
            <a:r>
              <a:rPr b="1" lang="fr"/>
              <a:t> de notebooks par </a:t>
            </a:r>
            <a:r>
              <a:rPr b="1" lang="fr"/>
              <a:t>étape</a:t>
            </a:r>
            <a:r>
              <a:rPr b="1" lang="fr"/>
              <a:t> du projet (Fin </a:t>
            </a:r>
            <a:r>
              <a:rPr b="1" lang="fr"/>
              <a:t>d'étape</a:t>
            </a:r>
            <a:r>
              <a:rPr b="1" lang="fr"/>
              <a:t> enregistrement du dataset dans un fichier)</a:t>
            </a:r>
            <a:endParaRPr b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fr"/>
              <a:t>Une fois connu l'existence de scikit.pipeline l'utiliser à partir du dataset </a:t>
            </a:r>
            <a:r>
              <a:rPr b="1" lang="fr"/>
              <a:t>déjà</a:t>
            </a:r>
            <a:r>
              <a:rPr b="1" lang="fr"/>
              <a:t> </a:t>
            </a:r>
            <a:r>
              <a:rPr b="1" lang="fr"/>
              <a:t>traité</a:t>
            </a:r>
            <a:r>
              <a:rPr b="1" lang="fr"/>
              <a:t>.</a:t>
            </a:r>
            <a:endParaRPr b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fr"/>
              <a:t>L'étape</a:t>
            </a:r>
            <a:r>
              <a:rPr b="1" lang="fr"/>
              <a:t> d'optimisation est </a:t>
            </a:r>
            <a:r>
              <a:rPr b="1" lang="fr"/>
              <a:t>réalisée</a:t>
            </a:r>
            <a:r>
              <a:rPr b="1" lang="fr"/>
              <a:t> avec la </a:t>
            </a:r>
            <a:r>
              <a:rPr b="1" lang="fr"/>
              <a:t>Modélisation</a:t>
            </a:r>
            <a:r>
              <a:rPr b="1" lang="fr"/>
              <a:t> "custom" au lieu de celle avec scikit.pipeline</a:t>
            </a:r>
            <a:endParaRPr b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fr"/>
              <a:t>Le notebook </a:t>
            </a:r>
            <a:r>
              <a:rPr b="1" lang="fr">
                <a:solidFill>
                  <a:srgbClr val="6AA84F"/>
                </a:solidFill>
              </a:rPr>
              <a:t>FULL_Sklearn_Pipeline.ipynb</a:t>
            </a:r>
            <a:r>
              <a:rPr b="1" lang="fr"/>
              <a:t> tiens le cycle </a:t>
            </a:r>
            <a:r>
              <a:rPr b="1" lang="fr"/>
              <a:t>quasi</a:t>
            </a:r>
            <a:r>
              <a:rPr b="1" lang="fr"/>
              <a:t>-complet (sauf optimisation) </a:t>
            </a:r>
            <a:endParaRPr b="1"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300"/>
              <a:buFont typeface="Lato"/>
              <a:buNone/>
            </a:pPr>
            <a:r>
              <a:t/>
            </a:r>
            <a:endParaRPr b="1"/>
          </a:p>
        </p:txBody>
      </p:sp>
      <p:pic>
        <p:nvPicPr>
          <p:cNvPr id="594" name="Google Shape;59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59175" y="380475"/>
            <a:ext cx="4099098" cy="1479150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16"/>
          <p:cNvSpPr txBox="1"/>
          <p:nvPr>
            <p:ph idx="1" type="body"/>
          </p:nvPr>
        </p:nvSpPr>
        <p:spPr>
          <a:xfrm>
            <a:off x="1111250" y="664600"/>
            <a:ext cx="7398600" cy="14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/>
              <a:t>💡 RECOMMANDATIONS Administratives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/>
              <a:t>   ✓ Prioriser rénovation bâtiments pré-1980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/>
              <a:t>   ✓ Standards renforcés pour secteur commercial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/>
              <a:t>   ✓ Programmes ciblés par quartier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Lato"/>
              <a:buNone/>
            </a:pPr>
            <a:r>
              <a:t/>
            </a:r>
            <a:endParaRPr b="1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lt1"/>
              </a:buClr>
              <a:buSzPct val="100000"/>
              <a:buFont typeface="Lato"/>
              <a:buNone/>
            </a:pPr>
            <a:r>
              <a:rPr b="1" i="0" lang="fr" sz="13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7"/>
          <p:cNvSpPr txBox="1"/>
          <p:nvPr>
            <p:ph type="title"/>
          </p:nvPr>
        </p:nvSpPr>
        <p:spPr>
          <a:xfrm>
            <a:off x="3894120" y="2255040"/>
            <a:ext cx="1355400" cy="6332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</a:pPr>
            <a:r>
              <a:rPr b="0" lang="fr" sz="2400" u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Q &amp; A</a:t>
            </a:r>
            <a:endParaRPr b="0" sz="24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17"/>
          <p:cNvSpPr txBox="1"/>
          <p:nvPr>
            <p:ph idx="1" type="body"/>
          </p:nvPr>
        </p:nvSpPr>
        <p:spPr>
          <a:xfrm>
            <a:off x="2862205" y="4327935"/>
            <a:ext cx="3470400" cy="6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None/>
            </a:pPr>
            <a:r>
              <a:rPr b="0" i="0" lang="fr" sz="15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Rafael CEREZO MARTIN</a:t>
            </a:r>
            <a:endParaRPr sz="15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1300"/>
              <a:buFont typeface="Lato"/>
              <a:buNone/>
            </a:pPr>
            <a:r>
              <a:rPr b="0" i="0" lang="fr" sz="12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Décembre 2025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